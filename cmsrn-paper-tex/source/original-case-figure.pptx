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6479540" cy="5579745"/>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Historical weekday reference</c:f>
              <c:strCache>
                <c:ptCount val="1"/>
                <c:pt idx="0">
                  <c:v>Historical weekday reference</c:v>
                </c:pt>
              </c:strCache>
            </c:strRef>
          </c:tx>
          <c:spPr>
            <a:ln w="13970" cap="rnd">
              <a:solidFill>
                <a:srgbClr val="4F7DA8"/>
              </a:solidFill>
              <a:prstDash val="dash"/>
              <a:round/>
            </a:ln>
          </c:spPr>
          <c:marker>
            <c:symbol val="none"/>
          </c:marker>
          <c:dLbls>
            <c:delete val="1"/>
          </c:dLbls>
          <c:xVal>
            <c:numRef>
              <c:f>'Chart Data'!$A$2:$A$145</c:f>
              <c:numCache>
                <c:formatCode>General</c:formatCode>
                <c:ptCount val="144"/>
                <c:pt idx="0">
                  <c:v>42696</c:v>
                </c:pt>
                <c:pt idx="1">
                  <c:v>42696.0208333333</c:v>
                </c:pt>
                <c:pt idx="2">
                  <c:v>42696.0416666667</c:v>
                </c:pt>
                <c:pt idx="3">
                  <c:v>42696.0625</c:v>
                </c:pt>
                <c:pt idx="4">
                  <c:v>42696.0833333333</c:v>
                </c:pt>
                <c:pt idx="5">
                  <c:v>42696.1041666667</c:v>
                </c:pt>
                <c:pt idx="6">
                  <c:v>42696.125</c:v>
                </c:pt>
                <c:pt idx="7">
                  <c:v>42696.1458333333</c:v>
                </c:pt>
                <c:pt idx="8">
                  <c:v>42696.1666666667</c:v>
                </c:pt>
                <c:pt idx="9">
                  <c:v>42696.1875</c:v>
                </c:pt>
                <c:pt idx="10">
                  <c:v>42696.2083333333</c:v>
                </c:pt>
                <c:pt idx="11">
                  <c:v>42696.2291666667</c:v>
                </c:pt>
                <c:pt idx="12">
                  <c:v>42696.25</c:v>
                </c:pt>
                <c:pt idx="13">
                  <c:v>42696.2708333333</c:v>
                </c:pt>
                <c:pt idx="14">
                  <c:v>42696.2916666667</c:v>
                </c:pt>
                <c:pt idx="15">
                  <c:v>42696.3125</c:v>
                </c:pt>
                <c:pt idx="16">
                  <c:v>42696.3333333333</c:v>
                </c:pt>
                <c:pt idx="17">
                  <c:v>42696.3541666667</c:v>
                </c:pt>
                <c:pt idx="18">
                  <c:v>42696.375</c:v>
                </c:pt>
                <c:pt idx="19">
                  <c:v>42696.3958333333</c:v>
                </c:pt>
                <c:pt idx="20">
                  <c:v>42696.4166666667</c:v>
                </c:pt>
                <c:pt idx="21">
                  <c:v>42696.4375</c:v>
                </c:pt>
                <c:pt idx="22">
                  <c:v>42696.4583333333</c:v>
                </c:pt>
                <c:pt idx="23">
                  <c:v>42696.4791666667</c:v>
                </c:pt>
                <c:pt idx="24">
                  <c:v>42696.5</c:v>
                </c:pt>
                <c:pt idx="25">
                  <c:v>42696.5208333333</c:v>
                </c:pt>
                <c:pt idx="26">
                  <c:v>42696.5416666667</c:v>
                </c:pt>
                <c:pt idx="27">
                  <c:v>42696.5625</c:v>
                </c:pt>
                <c:pt idx="28">
                  <c:v>42696.5833333333</c:v>
                </c:pt>
                <c:pt idx="29">
                  <c:v>42696.6041666667</c:v>
                </c:pt>
                <c:pt idx="30">
                  <c:v>42696.625</c:v>
                </c:pt>
                <c:pt idx="31">
                  <c:v>42696.6458333333</c:v>
                </c:pt>
                <c:pt idx="32">
                  <c:v>42696.6666666667</c:v>
                </c:pt>
                <c:pt idx="33">
                  <c:v>42696.6875</c:v>
                </c:pt>
                <c:pt idx="34">
                  <c:v>42696.7083333333</c:v>
                </c:pt>
                <c:pt idx="35">
                  <c:v>42696.7291666667</c:v>
                </c:pt>
                <c:pt idx="36">
                  <c:v>42696.75</c:v>
                </c:pt>
                <c:pt idx="37">
                  <c:v>42696.7708333333</c:v>
                </c:pt>
                <c:pt idx="38">
                  <c:v>42696.7916666667</c:v>
                </c:pt>
                <c:pt idx="39">
                  <c:v>42696.8125</c:v>
                </c:pt>
                <c:pt idx="40">
                  <c:v>42696.8333333333</c:v>
                </c:pt>
                <c:pt idx="41">
                  <c:v>42696.8541666667</c:v>
                </c:pt>
                <c:pt idx="42">
                  <c:v>42696.875</c:v>
                </c:pt>
                <c:pt idx="43">
                  <c:v>42696.8958333333</c:v>
                </c:pt>
                <c:pt idx="44">
                  <c:v>42696.9166666667</c:v>
                </c:pt>
                <c:pt idx="45">
                  <c:v>42696.9375</c:v>
                </c:pt>
                <c:pt idx="46">
                  <c:v>42696.9583333333</c:v>
                </c:pt>
                <c:pt idx="47">
                  <c:v>42696.9791666667</c:v>
                </c:pt>
                <c:pt idx="48">
                  <c:v>42697</c:v>
                </c:pt>
                <c:pt idx="49">
                  <c:v>42697.0208333333</c:v>
                </c:pt>
                <c:pt idx="50">
                  <c:v>42697.0416666667</c:v>
                </c:pt>
                <c:pt idx="51">
                  <c:v>42697.0625</c:v>
                </c:pt>
                <c:pt idx="52">
                  <c:v>42697.0833333333</c:v>
                </c:pt>
                <c:pt idx="53">
                  <c:v>42697.1041666667</c:v>
                </c:pt>
                <c:pt idx="54">
                  <c:v>42697.125</c:v>
                </c:pt>
                <c:pt idx="55">
                  <c:v>42697.1458333333</c:v>
                </c:pt>
                <c:pt idx="56">
                  <c:v>42697.1666666667</c:v>
                </c:pt>
                <c:pt idx="57">
                  <c:v>42697.1875</c:v>
                </c:pt>
                <c:pt idx="58">
                  <c:v>42697.2083333333</c:v>
                </c:pt>
                <c:pt idx="59">
                  <c:v>42697.2291666667</c:v>
                </c:pt>
                <c:pt idx="60">
                  <c:v>42697.25</c:v>
                </c:pt>
                <c:pt idx="61">
                  <c:v>42697.2708333333</c:v>
                </c:pt>
                <c:pt idx="62">
                  <c:v>42697.2916666667</c:v>
                </c:pt>
                <c:pt idx="63">
                  <c:v>42697.3125</c:v>
                </c:pt>
                <c:pt idx="64">
                  <c:v>42697.3333333333</c:v>
                </c:pt>
                <c:pt idx="65">
                  <c:v>42697.3541666667</c:v>
                </c:pt>
                <c:pt idx="66">
                  <c:v>42697.375</c:v>
                </c:pt>
                <c:pt idx="67">
                  <c:v>42697.3958333333</c:v>
                </c:pt>
                <c:pt idx="68">
                  <c:v>42697.4166666667</c:v>
                </c:pt>
                <c:pt idx="69">
                  <c:v>42697.4375</c:v>
                </c:pt>
                <c:pt idx="70">
                  <c:v>42697.4583333333</c:v>
                </c:pt>
                <c:pt idx="71">
                  <c:v>42697.4791666667</c:v>
                </c:pt>
                <c:pt idx="72">
                  <c:v>42697.5</c:v>
                </c:pt>
                <c:pt idx="73">
                  <c:v>42697.5208333333</c:v>
                </c:pt>
                <c:pt idx="74">
                  <c:v>42697.5416666667</c:v>
                </c:pt>
                <c:pt idx="75">
                  <c:v>42697.5625</c:v>
                </c:pt>
                <c:pt idx="76">
                  <c:v>42697.5833333333</c:v>
                </c:pt>
                <c:pt idx="77">
                  <c:v>42697.6041666667</c:v>
                </c:pt>
                <c:pt idx="78">
                  <c:v>42697.625</c:v>
                </c:pt>
                <c:pt idx="79">
                  <c:v>42697.6458333333</c:v>
                </c:pt>
                <c:pt idx="80">
                  <c:v>42697.6666666667</c:v>
                </c:pt>
                <c:pt idx="81">
                  <c:v>42697.6875</c:v>
                </c:pt>
                <c:pt idx="82">
                  <c:v>42697.7083333333</c:v>
                </c:pt>
                <c:pt idx="83">
                  <c:v>42697.7291666667</c:v>
                </c:pt>
                <c:pt idx="84">
                  <c:v>42697.75</c:v>
                </c:pt>
                <c:pt idx="85">
                  <c:v>42697.7708333333</c:v>
                </c:pt>
                <c:pt idx="86">
                  <c:v>42697.7916666667</c:v>
                </c:pt>
                <c:pt idx="87">
                  <c:v>42697.8125</c:v>
                </c:pt>
                <c:pt idx="88">
                  <c:v>42697.8333333333</c:v>
                </c:pt>
                <c:pt idx="89">
                  <c:v>42697.8541666667</c:v>
                </c:pt>
                <c:pt idx="90">
                  <c:v>42697.875</c:v>
                </c:pt>
                <c:pt idx="91">
                  <c:v>42697.8958333333</c:v>
                </c:pt>
                <c:pt idx="92">
                  <c:v>42697.9166666667</c:v>
                </c:pt>
                <c:pt idx="93">
                  <c:v>42697.9375</c:v>
                </c:pt>
                <c:pt idx="94">
                  <c:v>42697.9583333333</c:v>
                </c:pt>
                <c:pt idx="95">
                  <c:v>42697.9791666667</c:v>
                </c:pt>
                <c:pt idx="96">
                  <c:v>42698</c:v>
                </c:pt>
                <c:pt idx="97">
                  <c:v>42698.0208333333</c:v>
                </c:pt>
                <c:pt idx="98">
                  <c:v>42698.0416666667</c:v>
                </c:pt>
                <c:pt idx="99">
                  <c:v>42698.0625</c:v>
                </c:pt>
                <c:pt idx="100">
                  <c:v>42698.0833333333</c:v>
                </c:pt>
                <c:pt idx="101">
                  <c:v>42698.1041666667</c:v>
                </c:pt>
                <c:pt idx="102">
                  <c:v>42698.125</c:v>
                </c:pt>
                <c:pt idx="103">
                  <c:v>42698.1458333333</c:v>
                </c:pt>
                <c:pt idx="104">
                  <c:v>42698.1666666667</c:v>
                </c:pt>
                <c:pt idx="105">
                  <c:v>42698.1875</c:v>
                </c:pt>
                <c:pt idx="106">
                  <c:v>42698.2083333333</c:v>
                </c:pt>
                <c:pt idx="107">
                  <c:v>42698.2291666667</c:v>
                </c:pt>
                <c:pt idx="108">
                  <c:v>42698.25</c:v>
                </c:pt>
                <c:pt idx="109">
                  <c:v>42698.2708333333</c:v>
                </c:pt>
                <c:pt idx="110">
                  <c:v>42698.2916666667</c:v>
                </c:pt>
                <c:pt idx="111">
                  <c:v>42698.3125</c:v>
                </c:pt>
                <c:pt idx="112">
                  <c:v>42698.3333333333</c:v>
                </c:pt>
                <c:pt idx="113">
                  <c:v>42698.3541666667</c:v>
                </c:pt>
                <c:pt idx="114">
                  <c:v>42698.375</c:v>
                </c:pt>
                <c:pt idx="115">
                  <c:v>42698.3958333333</c:v>
                </c:pt>
                <c:pt idx="116">
                  <c:v>42698.4166666667</c:v>
                </c:pt>
                <c:pt idx="117">
                  <c:v>42698.4375</c:v>
                </c:pt>
                <c:pt idx="118">
                  <c:v>42698.4583333333</c:v>
                </c:pt>
                <c:pt idx="119">
                  <c:v>42698.4791666667</c:v>
                </c:pt>
                <c:pt idx="120">
                  <c:v>42698.5</c:v>
                </c:pt>
                <c:pt idx="121">
                  <c:v>42698.5208333333</c:v>
                </c:pt>
                <c:pt idx="122">
                  <c:v>42698.5416666667</c:v>
                </c:pt>
                <c:pt idx="123">
                  <c:v>42698.5625</c:v>
                </c:pt>
                <c:pt idx="124">
                  <c:v>42698.5833333333</c:v>
                </c:pt>
                <c:pt idx="125">
                  <c:v>42698.6041666667</c:v>
                </c:pt>
                <c:pt idx="126">
                  <c:v>42698.625</c:v>
                </c:pt>
                <c:pt idx="127">
                  <c:v>42698.6458333333</c:v>
                </c:pt>
                <c:pt idx="128">
                  <c:v>42698.6666666667</c:v>
                </c:pt>
                <c:pt idx="129">
                  <c:v>42698.6875</c:v>
                </c:pt>
                <c:pt idx="130">
                  <c:v>42698.7083333333</c:v>
                </c:pt>
                <c:pt idx="131">
                  <c:v>42698.7291666667</c:v>
                </c:pt>
                <c:pt idx="132">
                  <c:v>42698.75</c:v>
                </c:pt>
                <c:pt idx="133">
                  <c:v>42698.7708333333</c:v>
                </c:pt>
                <c:pt idx="134">
                  <c:v>42698.7916666667</c:v>
                </c:pt>
                <c:pt idx="135">
                  <c:v>42698.8125</c:v>
                </c:pt>
                <c:pt idx="136">
                  <c:v>42698.8333333333</c:v>
                </c:pt>
                <c:pt idx="137">
                  <c:v>42698.8541666667</c:v>
                </c:pt>
                <c:pt idx="138">
                  <c:v>42698.875</c:v>
                </c:pt>
                <c:pt idx="139">
                  <c:v>42698.8958333333</c:v>
                </c:pt>
                <c:pt idx="140">
                  <c:v>42698.9166666667</c:v>
                </c:pt>
                <c:pt idx="141">
                  <c:v>42698.9375</c:v>
                </c:pt>
                <c:pt idx="142">
                  <c:v>42698.9583333333</c:v>
                </c:pt>
                <c:pt idx="143">
                  <c:v>42698.9791666667</c:v>
                </c:pt>
              </c:numCache>
            </c:numRef>
          </c:xVal>
          <c:yVal>
            <c:numRef>
              <c:f>'Chart Data'!$B$2:$B$145</c:f>
              <c:numCache>
                <c:formatCode>0</c:formatCode>
                <c:ptCount val="144"/>
                <c:pt idx="0">
                  <c:v>5.5</c:v>
                </c:pt>
                <c:pt idx="1">
                  <c:v>5</c:v>
                </c:pt>
                <c:pt idx="2">
                  <c:v>3</c:v>
                </c:pt>
                <c:pt idx="3">
                  <c:v>2</c:v>
                </c:pt>
                <c:pt idx="4">
                  <c:v>2</c:v>
                </c:pt>
                <c:pt idx="5">
                  <c:v>2</c:v>
                </c:pt>
                <c:pt idx="6">
                  <c:v>1</c:v>
                </c:pt>
                <c:pt idx="7">
                  <c:v>2</c:v>
                </c:pt>
                <c:pt idx="8">
                  <c:v>2.5</c:v>
                </c:pt>
                <c:pt idx="9">
                  <c:v>1</c:v>
                </c:pt>
                <c:pt idx="10">
                  <c:v>1</c:v>
                </c:pt>
                <c:pt idx="11">
                  <c:v>1</c:v>
                </c:pt>
                <c:pt idx="12">
                  <c:v>2</c:v>
                </c:pt>
                <c:pt idx="13">
                  <c:v>3</c:v>
                </c:pt>
                <c:pt idx="14">
                  <c:v>8</c:v>
                </c:pt>
                <c:pt idx="15">
                  <c:v>10.5</c:v>
                </c:pt>
                <c:pt idx="16">
                  <c:v>12.5</c:v>
                </c:pt>
                <c:pt idx="17">
                  <c:v>15</c:v>
                </c:pt>
                <c:pt idx="18">
                  <c:v>17.5</c:v>
                </c:pt>
                <c:pt idx="19">
                  <c:v>14</c:v>
                </c:pt>
                <c:pt idx="20">
                  <c:v>14</c:v>
                </c:pt>
                <c:pt idx="21">
                  <c:v>11</c:v>
                </c:pt>
                <c:pt idx="22">
                  <c:v>10.5</c:v>
                </c:pt>
                <c:pt idx="23">
                  <c:v>9</c:v>
                </c:pt>
                <c:pt idx="24">
                  <c:v>10</c:v>
                </c:pt>
                <c:pt idx="25">
                  <c:v>10.5</c:v>
                </c:pt>
                <c:pt idx="26">
                  <c:v>14.5</c:v>
                </c:pt>
                <c:pt idx="27">
                  <c:v>13</c:v>
                </c:pt>
                <c:pt idx="28">
                  <c:v>12.5</c:v>
                </c:pt>
                <c:pt idx="29">
                  <c:v>12</c:v>
                </c:pt>
                <c:pt idx="30">
                  <c:v>10.5</c:v>
                </c:pt>
                <c:pt idx="31">
                  <c:v>7.5</c:v>
                </c:pt>
                <c:pt idx="32">
                  <c:v>7.5</c:v>
                </c:pt>
                <c:pt idx="33">
                  <c:v>10</c:v>
                </c:pt>
                <c:pt idx="34">
                  <c:v>9</c:v>
                </c:pt>
                <c:pt idx="35">
                  <c:v>11.5</c:v>
                </c:pt>
                <c:pt idx="36">
                  <c:v>12.5</c:v>
                </c:pt>
                <c:pt idx="37">
                  <c:v>12.5</c:v>
                </c:pt>
                <c:pt idx="38">
                  <c:v>15.5</c:v>
                </c:pt>
                <c:pt idx="39">
                  <c:v>14</c:v>
                </c:pt>
                <c:pt idx="40">
                  <c:v>17</c:v>
                </c:pt>
                <c:pt idx="41">
                  <c:v>16.5</c:v>
                </c:pt>
                <c:pt idx="42">
                  <c:v>14.5</c:v>
                </c:pt>
                <c:pt idx="43">
                  <c:v>14</c:v>
                </c:pt>
                <c:pt idx="44">
                  <c:v>12</c:v>
                </c:pt>
                <c:pt idx="45">
                  <c:v>9.5</c:v>
                </c:pt>
                <c:pt idx="46">
                  <c:v>8.5</c:v>
                </c:pt>
                <c:pt idx="47">
                  <c:v>7</c:v>
                </c:pt>
                <c:pt idx="48">
                  <c:v>5.5</c:v>
                </c:pt>
                <c:pt idx="49">
                  <c:v>5</c:v>
                </c:pt>
                <c:pt idx="50">
                  <c:v>3</c:v>
                </c:pt>
                <c:pt idx="51">
                  <c:v>2</c:v>
                </c:pt>
                <c:pt idx="52">
                  <c:v>2</c:v>
                </c:pt>
                <c:pt idx="53">
                  <c:v>2</c:v>
                </c:pt>
                <c:pt idx="54">
                  <c:v>1</c:v>
                </c:pt>
                <c:pt idx="55">
                  <c:v>2</c:v>
                </c:pt>
                <c:pt idx="56">
                  <c:v>2.5</c:v>
                </c:pt>
                <c:pt idx="57">
                  <c:v>1</c:v>
                </c:pt>
                <c:pt idx="58">
                  <c:v>1</c:v>
                </c:pt>
                <c:pt idx="59">
                  <c:v>1</c:v>
                </c:pt>
                <c:pt idx="60">
                  <c:v>2</c:v>
                </c:pt>
                <c:pt idx="61">
                  <c:v>3</c:v>
                </c:pt>
                <c:pt idx="62">
                  <c:v>8</c:v>
                </c:pt>
                <c:pt idx="63">
                  <c:v>10.5</c:v>
                </c:pt>
                <c:pt idx="64">
                  <c:v>12.5</c:v>
                </c:pt>
                <c:pt idx="65">
                  <c:v>15</c:v>
                </c:pt>
                <c:pt idx="66">
                  <c:v>17.5</c:v>
                </c:pt>
                <c:pt idx="67">
                  <c:v>14</c:v>
                </c:pt>
                <c:pt idx="68">
                  <c:v>14</c:v>
                </c:pt>
                <c:pt idx="69">
                  <c:v>11</c:v>
                </c:pt>
                <c:pt idx="70">
                  <c:v>10.5</c:v>
                </c:pt>
                <c:pt idx="71">
                  <c:v>9</c:v>
                </c:pt>
                <c:pt idx="72">
                  <c:v>10</c:v>
                </c:pt>
                <c:pt idx="73">
                  <c:v>10.5</c:v>
                </c:pt>
                <c:pt idx="74">
                  <c:v>14.5</c:v>
                </c:pt>
                <c:pt idx="75">
                  <c:v>13</c:v>
                </c:pt>
                <c:pt idx="76">
                  <c:v>12.5</c:v>
                </c:pt>
                <c:pt idx="77">
                  <c:v>12</c:v>
                </c:pt>
                <c:pt idx="78">
                  <c:v>10.5</c:v>
                </c:pt>
                <c:pt idx="79">
                  <c:v>7.5</c:v>
                </c:pt>
                <c:pt idx="80">
                  <c:v>7.5</c:v>
                </c:pt>
                <c:pt idx="81">
                  <c:v>10</c:v>
                </c:pt>
                <c:pt idx="82">
                  <c:v>9</c:v>
                </c:pt>
                <c:pt idx="83">
                  <c:v>11.5</c:v>
                </c:pt>
                <c:pt idx="84">
                  <c:v>12.5</c:v>
                </c:pt>
                <c:pt idx="85">
                  <c:v>12.5</c:v>
                </c:pt>
                <c:pt idx="86">
                  <c:v>15.5</c:v>
                </c:pt>
                <c:pt idx="87">
                  <c:v>14</c:v>
                </c:pt>
                <c:pt idx="88">
                  <c:v>17</c:v>
                </c:pt>
                <c:pt idx="89">
                  <c:v>16.5</c:v>
                </c:pt>
                <c:pt idx="90">
                  <c:v>14.5</c:v>
                </c:pt>
                <c:pt idx="91">
                  <c:v>14</c:v>
                </c:pt>
                <c:pt idx="92">
                  <c:v>12</c:v>
                </c:pt>
                <c:pt idx="93">
                  <c:v>9.5</c:v>
                </c:pt>
                <c:pt idx="94">
                  <c:v>8.5</c:v>
                </c:pt>
                <c:pt idx="95">
                  <c:v>7</c:v>
                </c:pt>
                <c:pt idx="96">
                  <c:v>5.5</c:v>
                </c:pt>
                <c:pt idx="97">
                  <c:v>5</c:v>
                </c:pt>
                <c:pt idx="98">
                  <c:v>3</c:v>
                </c:pt>
                <c:pt idx="99">
                  <c:v>2</c:v>
                </c:pt>
                <c:pt idx="100">
                  <c:v>2</c:v>
                </c:pt>
                <c:pt idx="101">
                  <c:v>2</c:v>
                </c:pt>
                <c:pt idx="102">
                  <c:v>1</c:v>
                </c:pt>
                <c:pt idx="103">
                  <c:v>2</c:v>
                </c:pt>
                <c:pt idx="104">
                  <c:v>2.5</c:v>
                </c:pt>
                <c:pt idx="105">
                  <c:v>1</c:v>
                </c:pt>
                <c:pt idx="106">
                  <c:v>1</c:v>
                </c:pt>
                <c:pt idx="107">
                  <c:v>1</c:v>
                </c:pt>
                <c:pt idx="108">
                  <c:v>2</c:v>
                </c:pt>
                <c:pt idx="109">
                  <c:v>3</c:v>
                </c:pt>
                <c:pt idx="110">
                  <c:v>8</c:v>
                </c:pt>
                <c:pt idx="111">
                  <c:v>10.5</c:v>
                </c:pt>
                <c:pt idx="112">
                  <c:v>12.5</c:v>
                </c:pt>
                <c:pt idx="113">
                  <c:v>15</c:v>
                </c:pt>
                <c:pt idx="114">
                  <c:v>17.5</c:v>
                </c:pt>
                <c:pt idx="115">
                  <c:v>14</c:v>
                </c:pt>
                <c:pt idx="116">
                  <c:v>14</c:v>
                </c:pt>
                <c:pt idx="117">
                  <c:v>11</c:v>
                </c:pt>
                <c:pt idx="118">
                  <c:v>10.5</c:v>
                </c:pt>
                <c:pt idx="119">
                  <c:v>9</c:v>
                </c:pt>
                <c:pt idx="120">
                  <c:v>10</c:v>
                </c:pt>
                <c:pt idx="121">
                  <c:v>10.5</c:v>
                </c:pt>
                <c:pt idx="122">
                  <c:v>14.5</c:v>
                </c:pt>
                <c:pt idx="123">
                  <c:v>13</c:v>
                </c:pt>
                <c:pt idx="124">
                  <c:v>12.5</c:v>
                </c:pt>
                <c:pt idx="125">
                  <c:v>12</c:v>
                </c:pt>
                <c:pt idx="126">
                  <c:v>10.5</c:v>
                </c:pt>
                <c:pt idx="127">
                  <c:v>7.5</c:v>
                </c:pt>
                <c:pt idx="128">
                  <c:v>7.5</c:v>
                </c:pt>
                <c:pt idx="129">
                  <c:v>10</c:v>
                </c:pt>
                <c:pt idx="130">
                  <c:v>9</c:v>
                </c:pt>
                <c:pt idx="131">
                  <c:v>11.5</c:v>
                </c:pt>
                <c:pt idx="132">
                  <c:v>12.5</c:v>
                </c:pt>
                <c:pt idx="133">
                  <c:v>12.5</c:v>
                </c:pt>
                <c:pt idx="134">
                  <c:v>15.5</c:v>
                </c:pt>
                <c:pt idx="135">
                  <c:v>14</c:v>
                </c:pt>
                <c:pt idx="136">
                  <c:v>17</c:v>
                </c:pt>
                <c:pt idx="137">
                  <c:v>16.5</c:v>
                </c:pt>
                <c:pt idx="138">
                  <c:v>14.5</c:v>
                </c:pt>
                <c:pt idx="139">
                  <c:v>14</c:v>
                </c:pt>
                <c:pt idx="140">
                  <c:v>12</c:v>
                </c:pt>
                <c:pt idx="141">
                  <c:v>9.5</c:v>
                </c:pt>
                <c:pt idx="142">
                  <c:v>8.5</c:v>
                </c:pt>
                <c:pt idx="143">
                  <c:v>7</c:v>
                </c:pt>
              </c:numCache>
            </c:numRef>
          </c:yVal>
          <c:smooth val="0"/>
        </c:ser>
        <c:ser>
          <c:idx val="1"/>
          <c:order val="1"/>
          <c:tx>
            <c:strRef>
              <c:f>Grid 601 target</c:f>
              <c:strCache>
                <c:ptCount val="1"/>
                <c:pt idx="0">
                  <c:v>Grid 601 target</c:v>
                </c:pt>
              </c:strCache>
            </c:strRef>
          </c:tx>
          <c:spPr>
            <a:ln w="15240" cap="rnd">
              <a:solidFill>
                <a:srgbClr val="D55E00"/>
              </a:solidFill>
              <a:prstDash val="solid"/>
              <a:round/>
            </a:ln>
          </c:spPr>
          <c:marker>
            <c:symbol val="none"/>
          </c:marker>
          <c:dLbls>
            <c:delete val="1"/>
          </c:dLbls>
          <c:xVal>
            <c:numRef>
              <c:f>'Chart Data'!$C$2:$C$145</c:f>
              <c:numCache>
                <c:formatCode>General</c:formatCode>
                <c:ptCount val="144"/>
                <c:pt idx="0">
                  <c:v>42696</c:v>
                </c:pt>
                <c:pt idx="1">
                  <c:v>42696.0208333333</c:v>
                </c:pt>
                <c:pt idx="2">
                  <c:v>42696.0416666667</c:v>
                </c:pt>
                <c:pt idx="3">
                  <c:v>42696.0625</c:v>
                </c:pt>
                <c:pt idx="4">
                  <c:v>42696.0833333333</c:v>
                </c:pt>
                <c:pt idx="5">
                  <c:v>42696.1041666667</c:v>
                </c:pt>
                <c:pt idx="6">
                  <c:v>42696.125</c:v>
                </c:pt>
                <c:pt idx="7">
                  <c:v>42696.1458333333</c:v>
                </c:pt>
                <c:pt idx="8">
                  <c:v>42696.1666666667</c:v>
                </c:pt>
                <c:pt idx="9">
                  <c:v>42696.1875</c:v>
                </c:pt>
                <c:pt idx="10">
                  <c:v>42696.2083333333</c:v>
                </c:pt>
                <c:pt idx="11">
                  <c:v>42696.2291666667</c:v>
                </c:pt>
                <c:pt idx="12">
                  <c:v>42696.25</c:v>
                </c:pt>
                <c:pt idx="13">
                  <c:v>42696.2708333333</c:v>
                </c:pt>
                <c:pt idx="14">
                  <c:v>42696.2916666667</c:v>
                </c:pt>
                <c:pt idx="15">
                  <c:v>42696.3125</c:v>
                </c:pt>
                <c:pt idx="16">
                  <c:v>42696.3333333333</c:v>
                </c:pt>
                <c:pt idx="17">
                  <c:v>42696.3541666667</c:v>
                </c:pt>
                <c:pt idx="18">
                  <c:v>42696.375</c:v>
                </c:pt>
                <c:pt idx="19">
                  <c:v>42696.3958333333</c:v>
                </c:pt>
                <c:pt idx="20">
                  <c:v>42696.4166666667</c:v>
                </c:pt>
                <c:pt idx="21">
                  <c:v>42696.4375</c:v>
                </c:pt>
                <c:pt idx="22">
                  <c:v>42696.4583333333</c:v>
                </c:pt>
                <c:pt idx="23">
                  <c:v>42696.4791666667</c:v>
                </c:pt>
                <c:pt idx="24">
                  <c:v>42696.5</c:v>
                </c:pt>
                <c:pt idx="25">
                  <c:v>42696.5208333333</c:v>
                </c:pt>
                <c:pt idx="26">
                  <c:v>42696.5416666667</c:v>
                </c:pt>
                <c:pt idx="27">
                  <c:v>42696.5625</c:v>
                </c:pt>
                <c:pt idx="28">
                  <c:v>42696.5833333333</c:v>
                </c:pt>
                <c:pt idx="29">
                  <c:v>42696.6041666667</c:v>
                </c:pt>
                <c:pt idx="30">
                  <c:v>42696.625</c:v>
                </c:pt>
                <c:pt idx="31">
                  <c:v>42696.6458333333</c:v>
                </c:pt>
                <c:pt idx="32">
                  <c:v>42696.6666666667</c:v>
                </c:pt>
                <c:pt idx="33">
                  <c:v>42696.6875</c:v>
                </c:pt>
                <c:pt idx="34">
                  <c:v>42696.7083333333</c:v>
                </c:pt>
                <c:pt idx="35">
                  <c:v>42696.7291666667</c:v>
                </c:pt>
                <c:pt idx="36">
                  <c:v>42696.75</c:v>
                </c:pt>
                <c:pt idx="37">
                  <c:v>42696.7708333333</c:v>
                </c:pt>
                <c:pt idx="38">
                  <c:v>42696.7916666667</c:v>
                </c:pt>
                <c:pt idx="39">
                  <c:v>42696.8125</c:v>
                </c:pt>
                <c:pt idx="40">
                  <c:v>42696.8333333333</c:v>
                </c:pt>
                <c:pt idx="41">
                  <c:v>42696.8541666667</c:v>
                </c:pt>
                <c:pt idx="42">
                  <c:v>42696.875</c:v>
                </c:pt>
                <c:pt idx="43">
                  <c:v>42696.8958333333</c:v>
                </c:pt>
                <c:pt idx="44">
                  <c:v>42696.9166666667</c:v>
                </c:pt>
                <c:pt idx="45">
                  <c:v>42696.9375</c:v>
                </c:pt>
                <c:pt idx="46">
                  <c:v>42696.9583333333</c:v>
                </c:pt>
                <c:pt idx="47">
                  <c:v>42696.9791666667</c:v>
                </c:pt>
                <c:pt idx="48">
                  <c:v>42697</c:v>
                </c:pt>
                <c:pt idx="49">
                  <c:v>42697.0208333333</c:v>
                </c:pt>
                <c:pt idx="50">
                  <c:v>42697.0416666667</c:v>
                </c:pt>
                <c:pt idx="51">
                  <c:v>42697.0625</c:v>
                </c:pt>
                <c:pt idx="52">
                  <c:v>42697.0833333333</c:v>
                </c:pt>
                <c:pt idx="53">
                  <c:v>42697.1041666667</c:v>
                </c:pt>
                <c:pt idx="54">
                  <c:v>42697.125</c:v>
                </c:pt>
                <c:pt idx="55">
                  <c:v>42697.1458333333</c:v>
                </c:pt>
                <c:pt idx="56">
                  <c:v>42697.1666666667</c:v>
                </c:pt>
                <c:pt idx="57">
                  <c:v>42697.1875</c:v>
                </c:pt>
                <c:pt idx="58">
                  <c:v>42697.2083333333</c:v>
                </c:pt>
                <c:pt idx="59">
                  <c:v>42697.2291666667</c:v>
                </c:pt>
                <c:pt idx="60">
                  <c:v>42697.25</c:v>
                </c:pt>
                <c:pt idx="61">
                  <c:v>42697.2708333333</c:v>
                </c:pt>
                <c:pt idx="62">
                  <c:v>42697.2916666667</c:v>
                </c:pt>
                <c:pt idx="63">
                  <c:v>42697.3125</c:v>
                </c:pt>
                <c:pt idx="64">
                  <c:v>42697.3333333333</c:v>
                </c:pt>
                <c:pt idx="65">
                  <c:v>42697.3541666667</c:v>
                </c:pt>
                <c:pt idx="66">
                  <c:v>42697.375</c:v>
                </c:pt>
                <c:pt idx="67">
                  <c:v>42697.3958333333</c:v>
                </c:pt>
                <c:pt idx="68">
                  <c:v>42697.4166666667</c:v>
                </c:pt>
                <c:pt idx="69">
                  <c:v>42697.4375</c:v>
                </c:pt>
                <c:pt idx="70">
                  <c:v>42697.4583333333</c:v>
                </c:pt>
                <c:pt idx="71">
                  <c:v>42697.4791666667</c:v>
                </c:pt>
                <c:pt idx="72">
                  <c:v>42697.5</c:v>
                </c:pt>
                <c:pt idx="73">
                  <c:v>42697.5208333333</c:v>
                </c:pt>
                <c:pt idx="74">
                  <c:v>42697.5416666667</c:v>
                </c:pt>
                <c:pt idx="75">
                  <c:v>42697.5625</c:v>
                </c:pt>
                <c:pt idx="76">
                  <c:v>42697.5833333333</c:v>
                </c:pt>
                <c:pt idx="77">
                  <c:v>42697.6041666667</c:v>
                </c:pt>
                <c:pt idx="78">
                  <c:v>42697.625</c:v>
                </c:pt>
                <c:pt idx="79">
                  <c:v>42697.6458333333</c:v>
                </c:pt>
                <c:pt idx="80">
                  <c:v>42697.6666666667</c:v>
                </c:pt>
                <c:pt idx="81">
                  <c:v>42697.6875</c:v>
                </c:pt>
                <c:pt idx="82">
                  <c:v>42697.7083333333</c:v>
                </c:pt>
                <c:pt idx="83">
                  <c:v>42697.7291666667</c:v>
                </c:pt>
                <c:pt idx="84">
                  <c:v>42697.75</c:v>
                </c:pt>
                <c:pt idx="85">
                  <c:v>42697.7708333333</c:v>
                </c:pt>
                <c:pt idx="86">
                  <c:v>42697.7916666667</c:v>
                </c:pt>
                <c:pt idx="87">
                  <c:v>42697.8125</c:v>
                </c:pt>
                <c:pt idx="88">
                  <c:v>42697.8333333333</c:v>
                </c:pt>
                <c:pt idx="89">
                  <c:v>42697.8541666667</c:v>
                </c:pt>
                <c:pt idx="90">
                  <c:v>42697.875</c:v>
                </c:pt>
                <c:pt idx="91">
                  <c:v>42697.8958333333</c:v>
                </c:pt>
                <c:pt idx="92">
                  <c:v>42697.9166666667</c:v>
                </c:pt>
                <c:pt idx="93">
                  <c:v>42697.9375</c:v>
                </c:pt>
                <c:pt idx="94">
                  <c:v>42697.9583333333</c:v>
                </c:pt>
                <c:pt idx="95">
                  <c:v>42697.9791666667</c:v>
                </c:pt>
                <c:pt idx="96">
                  <c:v>42698</c:v>
                </c:pt>
                <c:pt idx="97">
                  <c:v>42698.0208333333</c:v>
                </c:pt>
                <c:pt idx="98">
                  <c:v>42698.0416666667</c:v>
                </c:pt>
                <c:pt idx="99">
                  <c:v>42698.0625</c:v>
                </c:pt>
                <c:pt idx="100">
                  <c:v>42698.0833333333</c:v>
                </c:pt>
                <c:pt idx="101">
                  <c:v>42698.1041666667</c:v>
                </c:pt>
                <c:pt idx="102">
                  <c:v>42698.125</c:v>
                </c:pt>
                <c:pt idx="103">
                  <c:v>42698.1458333333</c:v>
                </c:pt>
                <c:pt idx="104">
                  <c:v>42698.1666666667</c:v>
                </c:pt>
                <c:pt idx="105">
                  <c:v>42698.1875</c:v>
                </c:pt>
                <c:pt idx="106">
                  <c:v>42698.2083333333</c:v>
                </c:pt>
                <c:pt idx="107">
                  <c:v>42698.2291666667</c:v>
                </c:pt>
                <c:pt idx="108">
                  <c:v>42698.25</c:v>
                </c:pt>
                <c:pt idx="109">
                  <c:v>42698.2708333333</c:v>
                </c:pt>
                <c:pt idx="110">
                  <c:v>42698.2916666667</c:v>
                </c:pt>
                <c:pt idx="111">
                  <c:v>42698.3125</c:v>
                </c:pt>
                <c:pt idx="112">
                  <c:v>42698.3333333333</c:v>
                </c:pt>
                <c:pt idx="113">
                  <c:v>42698.3541666667</c:v>
                </c:pt>
                <c:pt idx="114">
                  <c:v>42698.375</c:v>
                </c:pt>
                <c:pt idx="115">
                  <c:v>42698.3958333333</c:v>
                </c:pt>
                <c:pt idx="116">
                  <c:v>42698.4166666667</c:v>
                </c:pt>
                <c:pt idx="117">
                  <c:v>42698.4375</c:v>
                </c:pt>
                <c:pt idx="118">
                  <c:v>42698.4583333333</c:v>
                </c:pt>
                <c:pt idx="119">
                  <c:v>42698.4791666667</c:v>
                </c:pt>
                <c:pt idx="120">
                  <c:v>42698.5</c:v>
                </c:pt>
                <c:pt idx="121">
                  <c:v>42698.5208333333</c:v>
                </c:pt>
                <c:pt idx="122">
                  <c:v>42698.5416666667</c:v>
                </c:pt>
                <c:pt idx="123">
                  <c:v>42698.5625</c:v>
                </c:pt>
                <c:pt idx="124">
                  <c:v>42698.5833333333</c:v>
                </c:pt>
                <c:pt idx="125">
                  <c:v>42698.6041666667</c:v>
                </c:pt>
                <c:pt idx="126">
                  <c:v>42698.625</c:v>
                </c:pt>
                <c:pt idx="127">
                  <c:v>42698.6458333333</c:v>
                </c:pt>
                <c:pt idx="128">
                  <c:v>42698.6666666667</c:v>
                </c:pt>
                <c:pt idx="129">
                  <c:v>42698.6875</c:v>
                </c:pt>
                <c:pt idx="130">
                  <c:v>42698.7083333333</c:v>
                </c:pt>
                <c:pt idx="131">
                  <c:v>42698.7291666667</c:v>
                </c:pt>
                <c:pt idx="132">
                  <c:v>42698.75</c:v>
                </c:pt>
                <c:pt idx="133">
                  <c:v>42698.7708333333</c:v>
                </c:pt>
                <c:pt idx="134">
                  <c:v>42698.7916666667</c:v>
                </c:pt>
                <c:pt idx="135">
                  <c:v>42698.8125</c:v>
                </c:pt>
                <c:pt idx="136">
                  <c:v>42698.8333333333</c:v>
                </c:pt>
                <c:pt idx="137">
                  <c:v>42698.8541666667</c:v>
                </c:pt>
                <c:pt idx="138">
                  <c:v>42698.875</c:v>
                </c:pt>
                <c:pt idx="139">
                  <c:v>42698.8958333333</c:v>
                </c:pt>
                <c:pt idx="140">
                  <c:v>42698.9166666667</c:v>
                </c:pt>
                <c:pt idx="141">
                  <c:v>42698.9375</c:v>
                </c:pt>
                <c:pt idx="142">
                  <c:v>42698.9583333333</c:v>
                </c:pt>
                <c:pt idx="143">
                  <c:v>42698.9791666667</c:v>
                </c:pt>
              </c:numCache>
            </c:numRef>
          </c:xVal>
          <c:yVal>
            <c:numRef>
              <c:f>'Chart Data'!$D$2:$D$145</c:f>
              <c:numCache>
                <c:formatCode>0</c:formatCode>
                <c:ptCount val="144"/>
                <c:pt idx="0">
                  <c:v>6</c:v>
                </c:pt>
                <c:pt idx="1">
                  <c:v>1</c:v>
                </c:pt>
                <c:pt idx="2">
                  <c:v>3</c:v>
                </c:pt>
                <c:pt idx="3">
                  <c:v>2</c:v>
                </c:pt>
                <c:pt idx="4">
                  <c:v>1</c:v>
                </c:pt>
                <c:pt idx="5">
                  <c:v>1</c:v>
                </c:pt>
                <c:pt idx="6">
                  <c:v>0</c:v>
                </c:pt>
                <c:pt idx="7">
                  <c:v>2</c:v>
                </c:pt>
                <c:pt idx="8">
                  <c:v>1</c:v>
                </c:pt>
                <c:pt idx="9">
                  <c:v>0</c:v>
                </c:pt>
                <c:pt idx="10">
                  <c:v>0</c:v>
                </c:pt>
                <c:pt idx="11">
                  <c:v>0</c:v>
                </c:pt>
                <c:pt idx="12">
                  <c:v>2</c:v>
                </c:pt>
                <c:pt idx="13">
                  <c:v>1</c:v>
                </c:pt>
                <c:pt idx="14">
                  <c:v>9</c:v>
                </c:pt>
                <c:pt idx="15">
                  <c:v>14</c:v>
                </c:pt>
                <c:pt idx="16">
                  <c:v>10</c:v>
                </c:pt>
                <c:pt idx="17">
                  <c:v>14</c:v>
                </c:pt>
                <c:pt idx="18">
                  <c:v>23</c:v>
                </c:pt>
                <c:pt idx="19">
                  <c:v>11</c:v>
                </c:pt>
                <c:pt idx="20">
                  <c:v>8</c:v>
                </c:pt>
                <c:pt idx="21">
                  <c:v>6</c:v>
                </c:pt>
                <c:pt idx="22">
                  <c:v>10</c:v>
                </c:pt>
                <c:pt idx="23">
                  <c:v>11</c:v>
                </c:pt>
                <c:pt idx="24">
                  <c:v>2</c:v>
                </c:pt>
                <c:pt idx="25">
                  <c:v>9</c:v>
                </c:pt>
                <c:pt idx="26">
                  <c:v>11</c:v>
                </c:pt>
                <c:pt idx="27">
                  <c:v>11</c:v>
                </c:pt>
                <c:pt idx="28">
                  <c:v>17</c:v>
                </c:pt>
                <c:pt idx="29">
                  <c:v>15</c:v>
                </c:pt>
                <c:pt idx="30">
                  <c:v>13</c:v>
                </c:pt>
                <c:pt idx="31">
                  <c:v>6</c:v>
                </c:pt>
                <c:pt idx="32">
                  <c:v>14</c:v>
                </c:pt>
                <c:pt idx="33">
                  <c:v>7</c:v>
                </c:pt>
                <c:pt idx="34">
                  <c:v>13</c:v>
                </c:pt>
                <c:pt idx="35">
                  <c:v>12</c:v>
                </c:pt>
                <c:pt idx="36">
                  <c:v>12</c:v>
                </c:pt>
                <c:pt idx="37">
                  <c:v>13</c:v>
                </c:pt>
                <c:pt idx="38">
                  <c:v>12</c:v>
                </c:pt>
                <c:pt idx="39">
                  <c:v>14</c:v>
                </c:pt>
                <c:pt idx="40">
                  <c:v>18</c:v>
                </c:pt>
                <c:pt idx="41">
                  <c:v>16</c:v>
                </c:pt>
                <c:pt idx="42">
                  <c:v>11</c:v>
                </c:pt>
                <c:pt idx="43">
                  <c:v>14</c:v>
                </c:pt>
                <c:pt idx="44">
                  <c:v>12</c:v>
                </c:pt>
                <c:pt idx="45">
                  <c:v>7</c:v>
                </c:pt>
                <c:pt idx="46">
                  <c:v>7</c:v>
                </c:pt>
                <c:pt idx="47">
                  <c:v>4</c:v>
                </c:pt>
                <c:pt idx="48">
                  <c:v>7</c:v>
                </c:pt>
                <c:pt idx="49">
                  <c:v>5</c:v>
                </c:pt>
                <c:pt idx="50">
                  <c:v>1</c:v>
                </c:pt>
                <c:pt idx="51">
                  <c:v>3</c:v>
                </c:pt>
                <c:pt idx="52">
                  <c:v>3</c:v>
                </c:pt>
                <c:pt idx="53">
                  <c:v>1</c:v>
                </c:pt>
                <c:pt idx="54">
                  <c:v>4</c:v>
                </c:pt>
                <c:pt idx="55">
                  <c:v>0</c:v>
                </c:pt>
                <c:pt idx="56">
                  <c:v>4</c:v>
                </c:pt>
                <c:pt idx="57">
                  <c:v>1</c:v>
                </c:pt>
                <c:pt idx="58">
                  <c:v>0</c:v>
                </c:pt>
                <c:pt idx="59">
                  <c:v>3</c:v>
                </c:pt>
                <c:pt idx="60">
                  <c:v>2</c:v>
                </c:pt>
                <c:pt idx="61">
                  <c:v>2</c:v>
                </c:pt>
                <c:pt idx="62">
                  <c:v>9</c:v>
                </c:pt>
                <c:pt idx="63">
                  <c:v>10</c:v>
                </c:pt>
                <c:pt idx="64">
                  <c:v>18</c:v>
                </c:pt>
                <c:pt idx="65">
                  <c:v>15</c:v>
                </c:pt>
                <c:pt idx="66">
                  <c:v>22</c:v>
                </c:pt>
                <c:pt idx="67">
                  <c:v>17</c:v>
                </c:pt>
                <c:pt idx="68">
                  <c:v>14</c:v>
                </c:pt>
                <c:pt idx="69">
                  <c:v>12</c:v>
                </c:pt>
                <c:pt idx="70">
                  <c:v>10</c:v>
                </c:pt>
                <c:pt idx="71">
                  <c:v>9</c:v>
                </c:pt>
                <c:pt idx="72">
                  <c:v>10</c:v>
                </c:pt>
                <c:pt idx="73">
                  <c:v>11</c:v>
                </c:pt>
                <c:pt idx="74">
                  <c:v>8</c:v>
                </c:pt>
                <c:pt idx="75">
                  <c:v>14</c:v>
                </c:pt>
                <c:pt idx="76">
                  <c:v>12</c:v>
                </c:pt>
                <c:pt idx="77">
                  <c:v>11</c:v>
                </c:pt>
                <c:pt idx="78">
                  <c:v>12</c:v>
                </c:pt>
                <c:pt idx="79">
                  <c:v>7</c:v>
                </c:pt>
                <c:pt idx="80">
                  <c:v>9</c:v>
                </c:pt>
                <c:pt idx="81">
                  <c:v>11</c:v>
                </c:pt>
                <c:pt idx="82">
                  <c:v>14</c:v>
                </c:pt>
                <c:pt idx="83">
                  <c:v>11</c:v>
                </c:pt>
                <c:pt idx="84">
                  <c:v>14</c:v>
                </c:pt>
                <c:pt idx="85">
                  <c:v>12</c:v>
                </c:pt>
                <c:pt idx="86">
                  <c:v>14</c:v>
                </c:pt>
                <c:pt idx="87">
                  <c:v>15</c:v>
                </c:pt>
                <c:pt idx="88">
                  <c:v>15</c:v>
                </c:pt>
                <c:pt idx="89">
                  <c:v>18</c:v>
                </c:pt>
                <c:pt idx="90">
                  <c:v>16</c:v>
                </c:pt>
                <c:pt idx="91">
                  <c:v>16</c:v>
                </c:pt>
                <c:pt idx="92">
                  <c:v>16</c:v>
                </c:pt>
                <c:pt idx="93">
                  <c:v>10</c:v>
                </c:pt>
                <c:pt idx="94">
                  <c:v>7</c:v>
                </c:pt>
                <c:pt idx="95">
                  <c:v>4</c:v>
                </c:pt>
                <c:pt idx="96">
                  <c:v>6</c:v>
                </c:pt>
                <c:pt idx="97">
                  <c:v>3</c:v>
                </c:pt>
                <c:pt idx="98">
                  <c:v>5</c:v>
                </c:pt>
                <c:pt idx="99">
                  <c:v>1</c:v>
                </c:pt>
                <c:pt idx="100">
                  <c:v>3</c:v>
                </c:pt>
                <c:pt idx="101">
                  <c:v>1</c:v>
                </c:pt>
                <c:pt idx="102">
                  <c:v>1</c:v>
                </c:pt>
                <c:pt idx="103">
                  <c:v>2</c:v>
                </c:pt>
                <c:pt idx="104">
                  <c:v>6</c:v>
                </c:pt>
                <c:pt idx="105">
                  <c:v>0</c:v>
                </c:pt>
                <c:pt idx="106">
                  <c:v>0</c:v>
                </c:pt>
                <c:pt idx="107">
                  <c:v>2</c:v>
                </c:pt>
                <c:pt idx="108">
                  <c:v>2</c:v>
                </c:pt>
                <c:pt idx="109">
                  <c:v>4</c:v>
                </c:pt>
                <c:pt idx="110">
                  <c:v>13</c:v>
                </c:pt>
                <c:pt idx="111">
                  <c:v>11</c:v>
                </c:pt>
                <c:pt idx="112">
                  <c:v>6</c:v>
                </c:pt>
                <c:pt idx="113">
                  <c:v>17</c:v>
                </c:pt>
                <c:pt idx="114">
                  <c:v>28</c:v>
                </c:pt>
                <c:pt idx="115">
                  <c:v>17</c:v>
                </c:pt>
                <c:pt idx="116">
                  <c:v>12</c:v>
                </c:pt>
                <c:pt idx="117">
                  <c:v>11</c:v>
                </c:pt>
                <c:pt idx="118">
                  <c:v>9</c:v>
                </c:pt>
                <c:pt idx="119">
                  <c:v>10</c:v>
                </c:pt>
                <c:pt idx="120">
                  <c:v>7</c:v>
                </c:pt>
                <c:pt idx="121">
                  <c:v>10</c:v>
                </c:pt>
                <c:pt idx="122">
                  <c:v>11</c:v>
                </c:pt>
                <c:pt idx="123">
                  <c:v>10</c:v>
                </c:pt>
                <c:pt idx="124">
                  <c:v>12</c:v>
                </c:pt>
                <c:pt idx="125">
                  <c:v>9</c:v>
                </c:pt>
                <c:pt idx="126">
                  <c:v>7</c:v>
                </c:pt>
                <c:pt idx="127">
                  <c:v>12</c:v>
                </c:pt>
                <c:pt idx="128">
                  <c:v>11</c:v>
                </c:pt>
                <c:pt idx="129">
                  <c:v>8</c:v>
                </c:pt>
                <c:pt idx="130">
                  <c:v>11</c:v>
                </c:pt>
                <c:pt idx="131">
                  <c:v>12</c:v>
                </c:pt>
                <c:pt idx="132">
                  <c:v>16</c:v>
                </c:pt>
                <c:pt idx="133">
                  <c:v>10</c:v>
                </c:pt>
                <c:pt idx="134">
                  <c:v>16</c:v>
                </c:pt>
                <c:pt idx="135">
                  <c:v>11</c:v>
                </c:pt>
                <c:pt idx="136">
                  <c:v>20</c:v>
                </c:pt>
                <c:pt idx="137">
                  <c:v>29</c:v>
                </c:pt>
                <c:pt idx="138">
                  <c:v>16</c:v>
                </c:pt>
                <c:pt idx="139">
                  <c:v>15</c:v>
                </c:pt>
                <c:pt idx="140">
                  <c:v>15</c:v>
                </c:pt>
                <c:pt idx="141">
                  <c:v>7</c:v>
                </c:pt>
                <c:pt idx="142">
                  <c:v>11</c:v>
                </c:pt>
                <c:pt idx="143">
                  <c:v>9</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42699"/>
          <c:min val="42696"/>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3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5a820001-c800-4134-bcbf-a042a611d59a}"/>
      </c:ext>
    </c:extLst>
  </c:chart>
  <c:spPr>
    <a:noFill/>
    <a:ln>
      <a:noFill/>
    </a:ln>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Grid 601, Nov 18 history</c:f>
              <c:strCache>
                <c:ptCount val="1"/>
                <c:pt idx="0">
                  <c:v>Grid 601, Nov 18 history</c:v>
                </c:pt>
              </c:strCache>
            </c:strRef>
          </c:tx>
          <c:spPr>
            <a:ln w="13970" cap="rnd">
              <a:solidFill>
                <a:srgbClr val="4F7DA8"/>
              </a:solidFill>
              <a:prstDash val="dash"/>
              <a:round/>
            </a:ln>
          </c:spPr>
          <c:marker>
            <c:symbol val="none"/>
          </c:marker>
          <c:dLbls>
            <c:delete val="1"/>
          </c:dLbls>
          <c:xVal>
            <c:numRef>
              <c:f>'Chart Data'!$A$2:$A$13</c:f>
              <c:numCache>
                <c:formatCode>General</c:formatCode>
                <c:ptCount val="12"/>
                <c:pt idx="0">
                  <c:v>0</c:v>
                </c:pt>
                <c:pt idx="1">
                  <c:v>15</c:v>
                </c:pt>
                <c:pt idx="2">
                  <c:v>30</c:v>
                </c:pt>
                <c:pt idx="3">
                  <c:v>45</c:v>
                </c:pt>
                <c:pt idx="4">
                  <c:v>60</c:v>
                </c:pt>
                <c:pt idx="5">
                  <c:v>75</c:v>
                </c:pt>
                <c:pt idx="6">
                  <c:v>90</c:v>
                </c:pt>
                <c:pt idx="7">
                  <c:v>105</c:v>
                </c:pt>
                <c:pt idx="8">
                  <c:v>120</c:v>
                </c:pt>
                <c:pt idx="9">
                  <c:v>135</c:v>
                </c:pt>
                <c:pt idx="10">
                  <c:v>150</c:v>
                </c:pt>
                <c:pt idx="11">
                  <c:v>165</c:v>
                </c:pt>
              </c:numCache>
            </c:numRef>
          </c:xVal>
          <c:yVal>
            <c:numRef>
              <c:f>'Chart Data'!$B$2:$B$13</c:f>
              <c:numCache>
                <c:formatCode>0</c:formatCode>
                <c:ptCount val="12"/>
                <c:pt idx="0">
                  <c:v>5</c:v>
                </c:pt>
                <c:pt idx="1">
                  <c:v>9</c:v>
                </c:pt>
                <c:pt idx="2">
                  <c:v>13</c:v>
                </c:pt>
                <c:pt idx="3">
                  <c:v>12</c:v>
                </c:pt>
                <c:pt idx="4">
                  <c:v>10</c:v>
                </c:pt>
                <c:pt idx="5">
                  <c:v>6</c:v>
                </c:pt>
                <c:pt idx="6">
                  <c:v>6</c:v>
                </c:pt>
                <c:pt idx="7">
                  <c:v>7</c:v>
                </c:pt>
                <c:pt idx="8">
                  <c:v>6</c:v>
                </c:pt>
                <c:pt idx="9">
                  <c:v>7</c:v>
                </c:pt>
                <c:pt idx="10">
                  <c:v>4</c:v>
                </c:pt>
                <c:pt idx="11">
                  <c:v>3</c:v>
                </c:pt>
              </c:numCache>
            </c:numRef>
          </c:yVal>
          <c:smooth val="0"/>
        </c:ser>
        <c:ser>
          <c:idx val="1"/>
          <c:order val="1"/>
          <c:tx>
            <c:strRef>
              <c:f>Grid 601 target</c:f>
              <c:strCache>
                <c:ptCount val="1"/>
                <c:pt idx="0">
                  <c:v>Grid 601 target</c:v>
                </c:pt>
              </c:strCache>
            </c:strRef>
          </c:tx>
          <c:spPr>
            <a:ln w="15240" cap="rnd">
              <a:solidFill>
                <a:srgbClr val="D55E00"/>
              </a:solidFill>
              <a:prstDash val="solid"/>
              <a:round/>
            </a:ln>
          </c:spPr>
          <c:marker>
            <c:symbol val="none"/>
          </c:marker>
          <c:dLbls>
            <c:delete val="1"/>
          </c:dLbls>
          <c:xVal>
            <c:numRef>
              <c:f>'Chart Data'!$C$2:$C$13</c:f>
              <c:numCache>
                <c:formatCode>General</c:formatCode>
                <c:ptCount val="12"/>
                <c:pt idx="0">
                  <c:v>0</c:v>
                </c:pt>
                <c:pt idx="1">
                  <c:v>15</c:v>
                </c:pt>
                <c:pt idx="2">
                  <c:v>30</c:v>
                </c:pt>
                <c:pt idx="3">
                  <c:v>45</c:v>
                </c:pt>
                <c:pt idx="4">
                  <c:v>60</c:v>
                </c:pt>
                <c:pt idx="5">
                  <c:v>75</c:v>
                </c:pt>
                <c:pt idx="6">
                  <c:v>90</c:v>
                </c:pt>
                <c:pt idx="7">
                  <c:v>105</c:v>
                </c:pt>
                <c:pt idx="8">
                  <c:v>120</c:v>
                </c:pt>
                <c:pt idx="9">
                  <c:v>135</c:v>
                </c:pt>
                <c:pt idx="10">
                  <c:v>150</c:v>
                </c:pt>
                <c:pt idx="11">
                  <c:v>165</c:v>
                </c:pt>
              </c:numCache>
            </c:numRef>
          </c:xVal>
          <c:yVal>
            <c:numRef>
              <c:f>'Chart Data'!$D$2:$D$13</c:f>
              <c:numCache>
                <c:formatCode>0</c:formatCode>
                <c:ptCount val="12"/>
                <c:pt idx="0">
                  <c:v>6</c:v>
                </c:pt>
                <c:pt idx="1">
                  <c:v>11</c:v>
                </c:pt>
                <c:pt idx="2">
                  <c:v>16</c:v>
                </c:pt>
                <c:pt idx="3">
                  <c:v>12</c:v>
                </c:pt>
                <c:pt idx="4">
                  <c:v>11</c:v>
                </c:pt>
                <c:pt idx="5">
                  <c:v>6</c:v>
                </c:pt>
                <c:pt idx="6">
                  <c:v>5</c:v>
                </c:pt>
                <c:pt idx="7">
                  <c:v>7</c:v>
                </c:pt>
                <c:pt idx="8">
                  <c:v>4</c:v>
                </c:pt>
                <c:pt idx="9">
                  <c:v>7</c:v>
                </c:pt>
                <c:pt idx="10">
                  <c:v>5</c:v>
                </c:pt>
                <c:pt idx="11">
                  <c:v>4</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180"/>
          <c:min val="0"/>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2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4929b622-e00a-4cf5-a368-19f2c4c97310}"/>
      </c:ext>
    </c:extLst>
  </c:chart>
  <c:spPr>
    <a:noFill/>
    <a:ln>
      <a:noFill/>
    </a:ln>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Grid 600, Nov 24 (+30 min)</c:f>
              <c:strCache>
                <c:ptCount val="1"/>
                <c:pt idx="0">
                  <c:v>Grid 600, Nov 24 (+30 min)</c:v>
                </c:pt>
              </c:strCache>
            </c:strRef>
          </c:tx>
          <c:spPr>
            <a:ln w="13970" cap="rnd">
              <a:solidFill>
                <a:srgbClr val="4F7DA8"/>
              </a:solidFill>
              <a:prstDash val="dash"/>
              <a:round/>
            </a:ln>
          </c:spPr>
          <c:marker>
            <c:symbol val="none"/>
          </c:marker>
          <c:dLbls>
            <c:delete val="1"/>
          </c:dLbls>
          <c:xVal>
            <c:numRef>
              <c:f>'Chart Data'!$A$2:$A$13</c:f>
              <c:numCache>
                <c:formatCode>General</c:formatCode>
                <c:ptCount val="12"/>
                <c:pt idx="0">
                  <c:v>0</c:v>
                </c:pt>
                <c:pt idx="1">
                  <c:v>15</c:v>
                </c:pt>
                <c:pt idx="2">
                  <c:v>30</c:v>
                </c:pt>
                <c:pt idx="3">
                  <c:v>45</c:v>
                </c:pt>
                <c:pt idx="4">
                  <c:v>60</c:v>
                </c:pt>
                <c:pt idx="5">
                  <c:v>75</c:v>
                </c:pt>
                <c:pt idx="6">
                  <c:v>90</c:v>
                </c:pt>
                <c:pt idx="7">
                  <c:v>105</c:v>
                </c:pt>
                <c:pt idx="8">
                  <c:v>120</c:v>
                </c:pt>
                <c:pt idx="9">
                  <c:v>135</c:v>
                </c:pt>
                <c:pt idx="10">
                  <c:v>150</c:v>
                </c:pt>
                <c:pt idx="11">
                  <c:v>165</c:v>
                </c:pt>
              </c:numCache>
            </c:numRef>
          </c:xVal>
          <c:yVal>
            <c:numRef>
              <c:f>'Chart Data'!$B$2:$B$13</c:f>
              <c:numCache>
                <c:formatCode>0</c:formatCode>
                <c:ptCount val="12"/>
                <c:pt idx="0">
                  <c:v>3</c:v>
                </c:pt>
                <c:pt idx="1">
                  <c:v>9</c:v>
                </c:pt>
                <c:pt idx="2">
                  <c:v>17</c:v>
                </c:pt>
                <c:pt idx="3">
                  <c:v>12</c:v>
                </c:pt>
                <c:pt idx="4">
                  <c:v>13</c:v>
                </c:pt>
                <c:pt idx="5">
                  <c:v>6</c:v>
                </c:pt>
                <c:pt idx="6">
                  <c:v>7</c:v>
                </c:pt>
                <c:pt idx="7">
                  <c:v>11</c:v>
                </c:pt>
                <c:pt idx="8">
                  <c:v>4</c:v>
                </c:pt>
                <c:pt idx="9">
                  <c:v>7</c:v>
                </c:pt>
                <c:pt idx="10">
                  <c:v>4</c:v>
                </c:pt>
                <c:pt idx="11">
                  <c:v>4</c:v>
                </c:pt>
              </c:numCache>
            </c:numRef>
          </c:yVal>
          <c:smooth val="0"/>
        </c:ser>
        <c:ser>
          <c:idx val="1"/>
          <c:order val="1"/>
          <c:tx>
            <c:strRef>
              <c:f>Grid 601 target</c:f>
              <c:strCache>
                <c:ptCount val="1"/>
                <c:pt idx="0">
                  <c:v>Grid 601 target</c:v>
                </c:pt>
              </c:strCache>
            </c:strRef>
          </c:tx>
          <c:spPr>
            <a:ln w="15240" cap="rnd">
              <a:solidFill>
                <a:srgbClr val="D55E00"/>
              </a:solidFill>
              <a:prstDash val="solid"/>
              <a:round/>
            </a:ln>
          </c:spPr>
          <c:marker>
            <c:symbol val="none"/>
          </c:marker>
          <c:dLbls>
            <c:delete val="1"/>
          </c:dLbls>
          <c:xVal>
            <c:numRef>
              <c:f>'Chart Data'!$C$2:$C$13</c:f>
              <c:numCache>
                <c:formatCode>General</c:formatCode>
                <c:ptCount val="12"/>
                <c:pt idx="0">
                  <c:v>0</c:v>
                </c:pt>
                <c:pt idx="1">
                  <c:v>15</c:v>
                </c:pt>
                <c:pt idx="2">
                  <c:v>30</c:v>
                </c:pt>
                <c:pt idx="3">
                  <c:v>45</c:v>
                </c:pt>
                <c:pt idx="4">
                  <c:v>60</c:v>
                </c:pt>
                <c:pt idx="5">
                  <c:v>75</c:v>
                </c:pt>
                <c:pt idx="6">
                  <c:v>90</c:v>
                </c:pt>
                <c:pt idx="7">
                  <c:v>105</c:v>
                </c:pt>
                <c:pt idx="8">
                  <c:v>120</c:v>
                </c:pt>
                <c:pt idx="9">
                  <c:v>135</c:v>
                </c:pt>
                <c:pt idx="10">
                  <c:v>150</c:v>
                </c:pt>
                <c:pt idx="11">
                  <c:v>165</c:v>
                </c:pt>
              </c:numCache>
            </c:numRef>
          </c:xVal>
          <c:yVal>
            <c:numRef>
              <c:f>'Chart Data'!$D$2:$D$13</c:f>
              <c:numCache>
                <c:formatCode>0</c:formatCode>
                <c:ptCount val="12"/>
                <c:pt idx="0">
                  <c:v>6</c:v>
                </c:pt>
                <c:pt idx="1">
                  <c:v>11</c:v>
                </c:pt>
                <c:pt idx="2">
                  <c:v>16</c:v>
                </c:pt>
                <c:pt idx="3">
                  <c:v>12</c:v>
                </c:pt>
                <c:pt idx="4">
                  <c:v>11</c:v>
                </c:pt>
                <c:pt idx="5">
                  <c:v>6</c:v>
                </c:pt>
                <c:pt idx="6">
                  <c:v>5</c:v>
                </c:pt>
                <c:pt idx="7">
                  <c:v>7</c:v>
                </c:pt>
                <c:pt idx="8">
                  <c:v>4</c:v>
                </c:pt>
                <c:pt idx="9">
                  <c:v>7</c:v>
                </c:pt>
                <c:pt idx="10">
                  <c:v>5</c:v>
                </c:pt>
                <c:pt idx="11">
                  <c:v>4</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180"/>
          <c:min val="0"/>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2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4974e7c9-ab9d-46b8-972d-f83391c5403b}"/>
      </c:ext>
    </c:extLst>
  </c:chart>
  <c:spPr>
    <a:noFill/>
    <a:ln>
      <a:noFill/>
    </a:ln>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Grid 600, Nov 24 (+30 min)</c:f>
              <c:strCache>
                <c:ptCount val="1"/>
                <c:pt idx="0">
                  <c:v>Grid 600, Nov 24 (+30 min)</c:v>
                </c:pt>
              </c:strCache>
            </c:strRef>
          </c:tx>
          <c:spPr>
            <a:ln w="13970" cap="rnd">
              <a:solidFill>
                <a:srgbClr val="4F7DA8"/>
              </a:solidFill>
              <a:prstDash val="dash"/>
              <a:round/>
            </a:ln>
          </c:spPr>
          <c:marker>
            <c:symbol val="none"/>
          </c:marker>
          <c:dLbls>
            <c:delete val="1"/>
          </c:dLbls>
          <c:xVal>
            <c:numRef>
              <c:f>'Chart Data'!$A$2:$A$13</c:f>
              <c:numCache>
                <c:formatCode>General</c:formatCode>
                <c:ptCount val="12"/>
                <c:pt idx="0">
                  <c:v>-112.5</c:v>
                </c:pt>
                <c:pt idx="1">
                  <c:v>-97.5</c:v>
                </c:pt>
                <c:pt idx="2">
                  <c:v>-82.5</c:v>
                </c:pt>
                <c:pt idx="3">
                  <c:v>-67.5</c:v>
                </c:pt>
                <c:pt idx="4">
                  <c:v>-52.5</c:v>
                </c:pt>
                <c:pt idx="5">
                  <c:v>-37.5</c:v>
                </c:pt>
                <c:pt idx="6">
                  <c:v>-22.5</c:v>
                </c:pt>
                <c:pt idx="7">
                  <c:v>-7.5</c:v>
                </c:pt>
                <c:pt idx="8">
                  <c:v>7.5</c:v>
                </c:pt>
                <c:pt idx="9">
                  <c:v>22.5</c:v>
                </c:pt>
                <c:pt idx="10">
                  <c:v>37.5</c:v>
                </c:pt>
                <c:pt idx="11">
                  <c:v>52.5</c:v>
                </c:pt>
              </c:numCache>
            </c:numRef>
          </c:xVal>
          <c:yVal>
            <c:numRef>
              <c:f>'Chart Data'!$B$2:$B$13</c:f>
              <c:numCache>
                <c:formatCode>0</c:formatCode>
                <c:ptCount val="12"/>
                <c:pt idx="0">
                  <c:v>3</c:v>
                </c:pt>
                <c:pt idx="1">
                  <c:v>9</c:v>
                </c:pt>
                <c:pt idx="2">
                  <c:v>17</c:v>
                </c:pt>
                <c:pt idx="3">
                  <c:v>12</c:v>
                </c:pt>
                <c:pt idx="4">
                  <c:v>13</c:v>
                </c:pt>
                <c:pt idx="5">
                  <c:v>6</c:v>
                </c:pt>
                <c:pt idx="6">
                  <c:v>7</c:v>
                </c:pt>
                <c:pt idx="7">
                  <c:v>11</c:v>
                </c:pt>
                <c:pt idx="8">
                  <c:v>4</c:v>
                </c:pt>
                <c:pt idx="9">
                  <c:v>7</c:v>
                </c:pt>
                <c:pt idx="10">
                  <c:v>4</c:v>
                </c:pt>
                <c:pt idx="11">
                  <c:v>4</c:v>
                </c:pt>
              </c:numCache>
            </c:numRef>
          </c:yVal>
          <c:smooth val="0"/>
        </c:ser>
        <c:ser>
          <c:idx val="1"/>
          <c:order val="1"/>
          <c:tx>
            <c:strRef>
              <c:f>Grid 601 target</c:f>
              <c:strCache>
                <c:ptCount val="1"/>
                <c:pt idx="0">
                  <c:v>Grid 601 target</c:v>
                </c:pt>
              </c:strCache>
            </c:strRef>
          </c:tx>
          <c:spPr>
            <a:ln w="15240" cap="rnd">
              <a:solidFill>
                <a:srgbClr val="D55E00"/>
              </a:solidFill>
              <a:prstDash val="solid"/>
              <a:round/>
            </a:ln>
          </c:spPr>
          <c:marker>
            <c:symbol val="none"/>
          </c:marker>
          <c:dLbls>
            <c:delete val="1"/>
          </c:dLbls>
          <c:xVal>
            <c:numRef>
              <c:f>'Chart Data'!$C$2:$C$13</c:f>
              <c:numCache>
                <c:formatCode>General</c:formatCode>
                <c:ptCount val="12"/>
                <c:pt idx="0">
                  <c:v>-112.5</c:v>
                </c:pt>
                <c:pt idx="1">
                  <c:v>-97.5</c:v>
                </c:pt>
                <c:pt idx="2">
                  <c:v>-82.5</c:v>
                </c:pt>
                <c:pt idx="3">
                  <c:v>-67.5</c:v>
                </c:pt>
                <c:pt idx="4">
                  <c:v>-52.5</c:v>
                </c:pt>
                <c:pt idx="5">
                  <c:v>-37.5</c:v>
                </c:pt>
                <c:pt idx="6">
                  <c:v>-22.5</c:v>
                </c:pt>
                <c:pt idx="7">
                  <c:v>-7.5</c:v>
                </c:pt>
                <c:pt idx="8">
                  <c:v>7.5</c:v>
                </c:pt>
                <c:pt idx="9">
                  <c:v>22.5</c:v>
                </c:pt>
                <c:pt idx="10">
                  <c:v>37.5</c:v>
                </c:pt>
                <c:pt idx="11">
                  <c:v>52.5</c:v>
                </c:pt>
              </c:numCache>
            </c:numRef>
          </c:xVal>
          <c:yVal>
            <c:numRef>
              <c:f>'Chart Data'!$D$2:$D$13</c:f>
              <c:numCache>
                <c:formatCode>0</c:formatCode>
                <c:ptCount val="12"/>
                <c:pt idx="0">
                  <c:v>6</c:v>
                </c:pt>
                <c:pt idx="1">
                  <c:v>11</c:v>
                </c:pt>
                <c:pt idx="2">
                  <c:v>16</c:v>
                </c:pt>
                <c:pt idx="3">
                  <c:v>12</c:v>
                </c:pt>
                <c:pt idx="4">
                  <c:v>11</c:v>
                </c:pt>
                <c:pt idx="5">
                  <c:v>6</c:v>
                </c:pt>
                <c:pt idx="6">
                  <c:v>5</c:v>
                </c:pt>
                <c:pt idx="7">
                  <c:v>7</c:v>
                </c:pt>
                <c:pt idx="8">
                  <c:v>4</c:v>
                </c:pt>
                <c:pt idx="9">
                  <c:v>7</c:v>
                </c:pt>
                <c:pt idx="10">
                  <c:v>5</c:v>
                </c:pt>
                <c:pt idx="11">
                  <c:v>4</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60"/>
          <c:min val="-120"/>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2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85939d8e-5252-4198-893d-dc051943571e}"/>
      </c:ext>
    </c:extLst>
  </c:chart>
  <c:spPr>
    <a:noFill/>
    <a:ln>
      <a:noFill/>
    </a:ln>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Grid 600, Nov 28 (+30 min)</c:f>
              <c:strCache>
                <c:ptCount val="1"/>
                <c:pt idx="0">
                  <c:v>Grid 600, Nov 28 (+30 min)</c:v>
                </c:pt>
              </c:strCache>
            </c:strRef>
          </c:tx>
          <c:spPr>
            <a:ln w="13970" cap="rnd">
              <a:solidFill>
                <a:srgbClr val="4F7DA8"/>
              </a:solidFill>
              <a:prstDash val="dash"/>
              <a:round/>
            </a:ln>
          </c:spPr>
          <c:marker>
            <c:symbol val="none"/>
          </c:marker>
          <c:dLbls>
            <c:delete val="1"/>
          </c:dLbls>
          <c:xVal>
            <c:numRef>
              <c:f>'Chart Data'!$A$2:$A$13</c:f>
              <c:numCache>
                <c:formatCode>General</c:formatCode>
                <c:ptCount val="12"/>
                <c:pt idx="0">
                  <c:v>-112.5</c:v>
                </c:pt>
                <c:pt idx="1">
                  <c:v>-97.5</c:v>
                </c:pt>
                <c:pt idx="2">
                  <c:v>-82.5</c:v>
                </c:pt>
                <c:pt idx="3">
                  <c:v>-67.5</c:v>
                </c:pt>
                <c:pt idx="4">
                  <c:v>-52.5</c:v>
                </c:pt>
                <c:pt idx="5">
                  <c:v>-37.5</c:v>
                </c:pt>
                <c:pt idx="6">
                  <c:v>-22.5</c:v>
                </c:pt>
                <c:pt idx="7">
                  <c:v>-7.5</c:v>
                </c:pt>
                <c:pt idx="8">
                  <c:v>7.5</c:v>
                </c:pt>
                <c:pt idx="9">
                  <c:v>22.5</c:v>
                </c:pt>
                <c:pt idx="10">
                  <c:v>37.5</c:v>
                </c:pt>
                <c:pt idx="11">
                  <c:v>52.5</c:v>
                </c:pt>
              </c:numCache>
            </c:numRef>
          </c:xVal>
          <c:yVal>
            <c:numRef>
              <c:f>'Chart Data'!$B$2:$B$13</c:f>
              <c:numCache>
                <c:formatCode>0</c:formatCode>
                <c:ptCount val="12"/>
                <c:pt idx="0">
                  <c:v>0</c:v>
                </c:pt>
                <c:pt idx="1">
                  <c:v>1</c:v>
                </c:pt>
                <c:pt idx="2">
                  <c:v>3</c:v>
                </c:pt>
                <c:pt idx="3">
                  <c:v>3</c:v>
                </c:pt>
                <c:pt idx="4">
                  <c:v>1</c:v>
                </c:pt>
                <c:pt idx="5">
                  <c:v>7</c:v>
                </c:pt>
                <c:pt idx="6">
                  <c:v>10</c:v>
                </c:pt>
                <c:pt idx="7">
                  <c:v>9</c:v>
                </c:pt>
                <c:pt idx="8">
                  <c:v>5</c:v>
                </c:pt>
                <c:pt idx="9">
                  <c:v>8</c:v>
                </c:pt>
                <c:pt idx="10">
                  <c:v>8</c:v>
                </c:pt>
                <c:pt idx="11">
                  <c:v>1</c:v>
                </c:pt>
              </c:numCache>
            </c:numRef>
          </c:yVal>
          <c:smooth val="0"/>
        </c:ser>
        <c:ser>
          <c:idx val="1"/>
          <c:order val="1"/>
          <c:tx>
            <c:strRef>
              <c:f>Grid 601 target</c:f>
              <c:strCache>
                <c:ptCount val="1"/>
                <c:pt idx="0">
                  <c:v>Grid 601 target</c:v>
                </c:pt>
              </c:strCache>
            </c:strRef>
          </c:tx>
          <c:spPr>
            <a:ln w="15240" cap="rnd">
              <a:solidFill>
                <a:srgbClr val="D55E00"/>
              </a:solidFill>
              <a:prstDash val="solid"/>
              <a:round/>
            </a:ln>
          </c:spPr>
          <c:marker>
            <c:symbol val="none"/>
          </c:marker>
          <c:dLbls>
            <c:delete val="1"/>
          </c:dLbls>
          <c:xVal>
            <c:numRef>
              <c:f>'Chart Data'!$C$2:$C$13</c:f>
              <c:numCache>
                <c:formatCode>General</c:formatCode>
                <c:ptCount val="12"/>
                <c:pt idx="0">
                  <c:v>-112.5</c:v>
                </c:pt>
                <c:pt idx="1">
                  <c:v>-97.5</c:v>
                </c:pt>
                <c:pt idx="2">
                  <c:v>-82.5</c:v>
                </c:pt>
                <c:pt idx="3">
                  <c:v>-67.5</c:v>
                </c:pt>
                <c:pt idx="4">
                  <c:v>-52.5</c:v>
                </c:pt>
                <c:pt idx="5">
                  <c:v>-37.5</c:v>
                </c:pt>
                <c:pt idx="6">
                  <c:v>-22.5</c:v>
                </c:pt>
                <c:pt idx="7">
                  <c:v>-7.5</c:v>
                </c:pt>
                <c:pt idx="8">
                  <c:v>7.5</c:v>
                </c:pt>
                <c:pt idx="9">
                  <c:v>22.5</c:v>
                </c:pt>
                <c:pt idx="10">
                  <c:v>37.5</c:v>
                </c:pt>
                <c:pt idx="11">
                  <c:v>52.5</c:v>
                </c:pt>
              </c:numCache>
            </c:numRef>
          </c:xVal>
          <c:yVal>
            <c:numRef>
              <c:f>'Chart Data'!$D$2:$D$13</c:f>
              <c:numCache>
                <c:formatCode>0</c:formatCode>
                <c:ptCount val="12"/>
                <c:pt idx="0">
                  <c:v>0</c:v>
                </c:pt>
                <c:pt idx="1">
                  <c:v>1</c:v>
                </c:pt>
                <c:pt idx="2">
                  <c:v>2</c:v>
                </c:pt>
                <c:pt idx="3">
                  <c:v>5</c:v>
                </c:pt>
                <c:pt idx="4">
                  <c:v>4</c:v>
                </c:pt>
                <c:pt idx="5">
                  <c:v>6</c:v>
                </c:pt>
                <c:pt idx="6">
                  <c:v>9</c:v>
                </c:pt>
                <c:pt idx="7">
                  <c:v>7</c:v>
                </c:pt>
                <c:pt idx="8">
                  <c:v>6</c:v>
                </c:pt>
                <c:pt idx="9">
                  <c:v>5</c:v>
                </c:pt>
                <c:pt idx="10">
                  <c:v>6</c:v>
                </c:pt>
                <c:pt idx="11">
                  <c:v>11</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60"/>
          <c:min val="-120"/>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2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6ba3562d-b29e-4af8-95e3-63a4560bfbb9}"/>
      </c:ext>
    </c:extLst>
  </c:chart>
  <c:spPr>
    <a:noFill/>
    <a:ln>
      <a:noFill/>
    </a:ln>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Illustrative traffic patterns in Chengdu (November 2016, UTC+8). (a) Observed departures from target grid 601 deviate from the training-weekday reference; the highlighted 08:30–10:00 interval on November 24 contains 33.3% more departures than the reference. The map depicts schematic relationships between the target and candidate regions. (b) The target pattern resembles a same-region pattern on November 18 and an earlier pattern in adjacent grid 600, whose observations are shifted forward by 30 min for comparison. (c) Two examples exhibit similar target–neighbor histories before t₀ but different observed continuations. Pearson r is calculated over the eight 15-min bins before t₀. Near and Far denote [0, 30) and [30, 60) min after t₀. Δ is the mean absolute gap between the two observed curves within each interval, in departures per 15 min. Counts are aggregated to 30 min in (a) and 15 min in (b,c). The reference is the time-of-day median over 14 training weekdays. These are retrospectively selected observations; the continuations are not forecasts, and Far source observations occur after t₀.</a:t>
            </a:r>
          </a:p>
          <a:p/>
          <a:p>
            <a:r>
              <a:t>Δ 的定义：对应区间内，目标区域实测流量与按 30 min 对齐的邻区实测流量之间的平均绝对差；单位为 departures / 15 min。Near 和 Far 分别为 t₀ 后 [0, 30) min 与 [30, 60) min，每个区间包含两个 15 min 计数。</a:t>
            </a:r>
          </a:p>
          <a:p/>
          <a:p>
            <a:r>
              <a:t>图 C 的 r 仅由 t₀ 前 8 个 15 min 计数计算；t₀ 之后展示的是实测后续曲线。</a:t>
            </a:r>
          </a:p>
          <a:p/>
          <a:p/>
          <a:p>
            <a:r>
              <a:t>All five time-series charts contain the original observed values and editable workbook data. The manual axis labels and annotation shapes reproduce the approved figure layout.</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648000" y="2108000"/>
            <a:ext cx="5184000" cy="806000"/>
          </a:xfrm>
          <a:prstGeom prst="rect">
            <a:avLst/>
          </a:prstGeom>
          <a:noFill/>
          <a:ln>
            <a:noFill/>
            <a:prstDash val="solid"/>
          </a:ln>
        </p:spPr>
        <p:txBody>
          <a:bodyPr wrap="square" lIns="0" tIns="0" rIns="0" bIns="0" anchor="ctr">
            <a:normAutofit/>
          </a:bodyPr>
          <a:lstStyle>
            <a:defPPr algn="ctr">
              <a:defRPr sz="2550"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972000" y="3069000"/>
            <a:ext cx="4536000" cy="620000"/>
          </a:xfrm>
          <a:prstGeom prst="rect">
            <a:avLst/>
          </a:prstGeom>
          <a:noFill/>
          <a:ln>
            <a:noFill/>
            <a:prstDash val="solid"/>
          </a:ln>
        </p:spPr>
        <p:txBody>
          <a:bodyPr wrap="square" lIns="0" tIns="0" rIns="0" bIns="0" anchor="ctr">
            <a:normAutofit/>
          </a:bodyPr>
          <a:lstStyle>
            <a:defPPr algn="ctr">
              <a:defRPr sz="1115" b="0">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648000" y="2325000"/>
            <a:ext cx="5184000" cy="930000"/>
          </a:xfrm>
          <a:prstGeom prst="rect">
            <a:avLst/>
          </a:prstGeom>
          <a:noFill/>
          <a:ln>
            <a:noFill/>
            <a:prstDash val="solid"/>
          </a:ln>
        </p:spPr>
        <p:txBody>
          <a:bodyPr wrap="square" lIns="0" tIns="0" rIns="0" bIns="0" anchor="ctr">
            <a:normAutofit/>
          </a:bodyPr>
          <a:lstStyle>
            <a:defPPr algn="ctr">
              <a:defRPr sz="2230"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364500" y="434000"/>
            <a:ext cx="5751000" cy="682000"/>
          </a:xfrm>
          <a:prstGeom prst="rect">
            <a:avLst/>
          </a:prstGeom>
          <a:noFill/>
          <a:ln>
            <a:noFill/>
            <a:prstDash val="solid"/>
          </a:ln>
        </p:spPr>
        <p:txBody>
          <a:bodyPr wrap="square" lIns="0" tIns="0" rIns="0" bIns="0" anchor="t">
            <a:normAutofit/>
          </a:bodyPr>
          <a:lstStyle>
            <a:defPPr algn="l">
              <a:defRPr sz="1755"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364500" y="1550000"/>
            <a:ext cx="5751000" cy="3472000"/>
          </a:xfrm>
          <a:prstGeom prst="rect">
            <a:avLst/>
          </a:prstGeom>
          <a:noFill/>
          <a:ln>
            <a:noFill/>
            <a:prstDash val="solid"/>
          </a:ln>
        </p:spPr>
        <p:txBody>
          <a:bodyPr wrap="square" lIns="0" tIns="0" rIns="0" bIns="0" anchor="t">
            <a:normAutofit/>
          </a:bodyPr>
          <a:lstStyle>
            <a:defPPr algn="l">
              <a:defRPr sz="1195" b="0">
                <a:solidFill>
                  <a:schemeClr val="tx1"/>
                </a:solidFill>
                <a:latin typeface="Times New Roman" panose="02020603050405020304"/>
                <a:ea typeface="Times New Roman" panose="02020603050405020304"/>
                <a:cs typeface="Times New Roman" panose="02020603050405020304"/>
              </a:defRPr>
            </a:defPPr>
            <a:lvl1pPr marL="121285" indent="-121285">
              <a:lnSpc>
                <a:spcPct val="110000"/>
              </a:lnSpc>
              <a:spcBef>
                <a:spcPts val="0"/>
              </a:spcBef>
              <a:spcAft>
                <a:spcPts val="640"/>
              </a:spcAft>
              <a:buChar char="•"/>
            </a:lvl1pPr>
            <a:lvl2pPr marL="283210" indent="-121285">
              <a:lnSpc>
                <a:spcPct val="110000"/>
              </a:lnSpc>
              <a:spcBef>
                <a:spcPts val="0"/>
              </a:spcBef>
              <a:spcAft>
                <a:spcPts val="640"/>
              </a:spcAft>
              <a:buChar char="•"/>
            </a:lvl2pPr>
            <a:lvl3pPr marL="445770" indent="-121285">
              <a:lnSpc>
                <a:spcPct val="110000"/>
              </a:lnSpc>
              <a:spcBef>
                <a:spcPts val="0"/>
              </a:spcBef>
              <a:spcAft>
                <a:spcPts val="640"/>
              </a:spcAft>
              <a:buChar char="•"/>
            </a:lvl3pPr>
            <a:lvl4pPr marL="607695" indent="-121285">
              <a:lnSpc>
                <a:spcPct val="110000"/>
              </a:lnSpc>
              <a:spcBef>
                <a:spcPts val="0"/>
              </a:spcBef>
              <a:spcAft>
                <a:spcPts val="640"/>
              </a:spcAft>
              <a:buChar char="•"/>
            </a:lvl4pPr>
            <a:lvl5pPr marL="769620" indent="-121285">
              <a:lnSpc>
                <a:spcPct val="110000"/>
              </a:lnSpc>
              <a:spcBef>
                <a:spcPts val="0"/>
              </a:spcBef>
              <a:spcAft>
                <a:spcPts val="640"/>
              </a:spcAft>
              <a:buChar char="•"/>
            </a:lvl5pPr>
            <a:lvl6pPr marL="931545" indent="-121285">
              <a:lnSpc>
                <a:spcPct val="110000"/>
              </a:lnSpc>
              <a:spcBef>
                <a:spcPts val="0"/>
              </a:spcBef>
              <a:spcAft>
                <a:spcPts val="640"/>
              </a:spcAft>
              <a:buChar char="•"/>
            </a:lvl6pPr>
            <a:lvl7pPr marL="1093470" indent="-121285">
              <a:lnSpc>
                <a:spcPct val="110000"/>
              </a:lnSpc>
              <a:spcBef>
                <a:spcPts val="0"/>
              </a:spcBef>
              <a:spcAft>
                <a:spcPts val="640"/>
              </a:spcAft>
              <a:buChar char="•"/>
            </a:lvl7pPr>
            <a:lvl8pPr marL="1255395" indent="-121285">
              <a:lnSpc>
                <a:spcPct val="110000"/>
              </a:lnSpc>
              <a:spcBef>
                <a:spcPts val="0"/>
              </a:spcBef>
              <a:spcAft>
                <a:spcPts val="640"/>
              </a:spcAft>
              <a:buChar char="•"/>
            </a:lvl8pPr>
            <a:lvl9pPr marL="1417320" indent="-121285">
              <a:lnSpc>
                <a:spcPct val="110000"/>
              </a:lnSpc>
              <a:spcBef>
                <a:spcPts val="0"/>
              </a:spcBef>
              <a:spcAft>
                <a:spcPts val="64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364500" y="434000"/>
            <a:ext cx="5751000" cy="682000"/>
          </a:xfrm>
          <a:prstGeom prst="rect">
            <a:avLst/>
          </a:prstGeom>
          <a:noFill/>
          <a:ln>
            <a:noFill/>
            <a:prstDash val="solid"/>
          </a:ln>
        </p:spPr>
        <p:txBody>
          <a:bodyPr wrap="square" lIns="0" tIns="0" rIns="0" bIns="0" anchor="t">
            <a:normAutofit/>
          </a:bodyPr>
          <a:lstStyle>
            <a:defPPr algn="l">
              <a:defRPr sz="1755"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364500" y="1550000"/>
            <a:ext cx="2673000" cy="3472000"/>
          </a:xfrm>
          <a:prstGeom prst="rect">
            <a:avLst/>
          </a:prstGeom>
          <a:noFill/>
          <a:ln>
            <a:noFill/>
            <a:prstDash val="solid"/>
          </a:ln>
        </p:spPr>
        <p:txBody>
          <a:bodyPr wrap="square" lIns="0" tIns="0" rIns="0" bIns="0" anchor="t">
            <a:normAutofit/>
          </a:bodyPr>
          <a:lstStyle>
            <a:defPPr algn="l">
              <a:defRPr sz="1115" b="0">
                <a:solidFill>
                  <a:schemeClr val="tx1"/>
                </a:solidFill>
                <a:latin typeface="Times New Roman" panose="02020603050405020304"/>
                <a:ea typeface="Times New Roman" panose="02020603050405020304"/>
                <a:cs typeface="Times New Roman" panose="02020603050405020304"/>
              </a:defRPr>
            </a:defPPr>
            <a:lvl1pPr marL="121285" indent="-121285">
              <a:lnSpc>
                <a:spcPct val="110000"/>
              </a:lnSpc>
              <a:spcBef>
                <a:spcPts val="0"/>
              </a:spcBef>
              <a:spcAft>
                <a:spcPts val="640"/>
              </a:spcAft>
              <a:buChar char="•"/>
            </a:lvl1pPr>
            <a:lvl2pPr marL="283210" indent="-121285">
              <a:lnSpc>
                <a:spcPct val="110000"/>
              </a:lnSpc>
              <a:spcBef>
                <a:spcPts val="0"/>
              </a:spcBef>
              <a:spcAft>
                <a:spcPts val="640"/>
              </a:spcAft>
              <a:buChar char="•"/>
            </a:lvl2pPr>
            <a:lvl3pPr marL="445770" indent="-121285">
              <a:lnSpc>
                <a:spcPct val="110000"/>
              </a:lnSpc>
              <a:spcBef>
                <a:spcPts val="0"/>
              </a:spcBef>
              <a:spcAft>
                <a:spcPts val="640"/>
              </a:spcAft>
              <a:buChar char="•"/>
            </a:lvl3pPr>
            <a:lvl4pPr marL="607695" indent="-121285">
              <a:lnSpc>
                <a:spcPct val="110000"/>
              </a:lnSpc>
              <a:spcBef>
                <a:spcPts val="0"/>
              </a:spcBef>
              <a:spcAft>
                <a:spcPts val="640"/>
              </a:spcAft>
              <a:buChar char="•"/>
            </a:lvl4pPr>
            <a:lvl5pPr marL="769620" indent="-121285">
              <a:lnSpc>
                <a:spcPct val="110000"/>
              </a:lnSpc>
              <a:spcBef>
                <a:spcPts val="0"/>
              </a:spcBef>
              <a:spcAft>
                <a:spcPts val="640"/>
              </a:spcAft>
              <a:buChar char="•"/>
            </a:lvl5pPr>
            <a:lvl6pPr marL="931545" indent="-121285">
              <a:lnSpc>
                <a:spcPct val="110000"/>
              </a:lnSpc>
              <a:spcBef>
                <a:spcPts val="0"/>
              </a:spcBef>
              <a:spcAft>
                <a:spcPts val="640"/>
              </a:spcAft>
              <a:buChar char="•"/>
            </a:lvl6pPr>
            <a:lvl7pPr marL="1093470" indent="-121285">
              <a:lnSpc>
                <a:spcPct val="110000"/>
              </a:lnSpc>
              <a:spcBef>
                <a:spcPts val="0"/>
              </a:spcBef>
              <a:spcAft>
                <a:spcPts val="640"/>
              </a:spcAft>
              <a:buChar char="•"/>
            </a:lvl7pPr>
            <a:lvl8pPr marL="1255395" indent="-121285">
              <a:lnSpc>
                <a:spcPct val="110000"/>
              </a:lnSpc>
              <a:spcBef>
                <a:spcPts val="0"/>
              </a:spcBef>
              <a:spcAft>
                <a:spcPts val="640"/>
              </a:spcAft>
              <a:buChar char="•"/>
            </a:lvl8pPr>
            <a:lvl9pPr marL="1417320" indent="-121285">
              <a:lnSpc>
                <a:spcPct val="110000"/>
              </a:lnSpc>
              <a:spcBef>
                <a:spcPts val="0"/>
              </a:spcBef>
              <a:spcAft>
                <a:spcPts val="640"/>
              </a:spcAft>
              <a:buChar char="•"/>
            </a:lvl9pPr>
          </a:lstStyle>
          <a:p/>
        </p:txBody>
      </p:sp>
      <p:sp>
        <p:nvSpPr>
          <p:cNvPr id="3" name="Right column"/>
          <p:cNvSpPr>
            <a:spLocks noGrp="1"/>
          </p:cNvSpPr>
          <p:nvPr>
            <p:ph type="body" idx="2"/>
          </p:nvPr>
        </p:nvSpPr>
        <p:spPr>
          <a:xfrm>
            <a:off x="3442500" y="1550000"/>
            <a:ext cx="2673000" cy="3472000"/>
          </a:xfrm>
          <a:prstGeom prst="rect">
            <a:avLst/>
          </a:prstGeom>
          <a:noFill/>
          <a:ln>
            <a:noFill/>
            <a:prstDash val="solid"/>
          </a:ln>
        </p:spPr>
        <p:txBody>
          <a:bodyPr wrap="square" lIns="0" tIns="0" rIns="0" bIns="0" anchor="t">
            <a:normAutofit/>
          </a:bodyPr>
          <a:lstStyle>
            <a:defPPr algn="l">
              <a:defRPr sz="1115" b="0">
                <a:solidFill>
                  <a:schemeClr val="tx1"/>
                </a:solidFill>
                <a:latin typeface="Times New Roman" panose="02020603050405020304"/>
                <a:ea typeface="Times New Roman" panose="02020603050405020304"/>
                <a:cs typeface="Times New Roman" panose="02020603050405020304"/>
              </a:defRPr>
            </a:defPPr>
            <a:lvl1pPr marL="121285" indent="-121285">
              <a:lnSpc>
                <a:spcPct val="110000"/>
              </a:lnSpc>
              <a:spcBef>
                <a:spcPts val="0"/>
              </a:spcBef>
              <a:spcAft>
                <a:spcPts val="640"/>
              </a:spcAft>
              <a:buChar char="•"/>
            </a:lvl1pPr>
            <a:lvl2pPr marL="283210" indent="-121285">
              <a:lnSpc>
                <a:spcPct val="110000"/>
              </a:lnSpc>
              <a:spcBef>
                <a:spcPts val="0"/>
              </a:spcBef>
              <a:spcAft>
                <a:spcPts val="640"/>
              </a:spcAft>
              <a:buChar char="•"/>
            </a:lvl2pPr>
            <a:lvl3pPr marL="445770" indent="-121285">
              <a:lnSpc>
                <a:spcPct val="110000"/>
              </a:lnSpc>
              <a:spcBef>
                <a:spcPts val="0"/>
              </a:spcBef>
              <a:spcAft>
                <a:spcPts val="640"/>
              </a:spcAft>
              <a:buChar char="•"/>
            </a:lvl3pPr>
            <a:lvl4pPr marL="607695" indent="-121285">
              <a:lnSpc>
                <a:spcPct val="110000"/>
              </a:lnSpc>
              <a:spcBef>
                <a:spcPts val="0"/>
              </a:spcBef>
              <a:spcAft>
                <a:spcPts val="640"/>
              </a:spcAft>
              <a:buChar char="•"/>
            </a:lvl4pPr>
            <a:lvl5pPr marL="769620" indent="-121285">
              <a:lnSpc>
                <a:spcPct val="110000"/>
              </a:lnSpc>
              <a:spcBef>
                <a:spcPts val="0"/>
              </a:spcBef>
              <a:spcAft>
                <a:spcPts val="640"/>
              </a:spcAft>
              <a:buChar char="•"/>
            </a:lvl5pPr>
            <a:lvl6pPr marL="931545" indent="-121285">
              <a:lnSpc>
                <a:spcPct val="110000"/>
              </a:lnSpc>
              <a:spcBef>
                <a:spcPts val="0"/>
              </a:spcBef>
              <a:spcAft>
                <a:spcPts val="640"/>
              </a:spcAft>
              <a:buChar char="•"/>
            </a:lvl6pPr>
            <a:lvl7pPr marL="1093470" indent="-121285">
              <a:lnSpc>
                <a:spcPct val="110000"/>
              </a:lnSpc>
              <a:spcBef>
                <a:spcPts val="0"/>
              </a:spcBef>
              <a:spcAft>
                <a:spcPts val="640"/>
              </a:spcAft>
              <a:buChar char="•"/>
            </a:lvl7pPr>
            <a:lvl8pPr marL="1255395" indent="-121285">
              <a:lnSpc>
                <a:spcPct val="110000"/>
              </a:lnSpc>
              <a:spcBef>
                <a:spcPts val="0"/>
              </a:spcBef>
              <a:spcAft>
                <a:spcPts val="640"/>
              </a:spcAft>
              <a:buChar char="•"/>
            </a:lvl8pPr>
            <a:lvl9pPr marL="1417320" indent="-121285">
              <a:lnSpc>
                <a:spcPct val="110000"/>
              </a:lnSpc>
              <a:spcBef>
                <a:spcPts val="0"/>
              </a:spcBef>
              <a:spcAft>
                <a:spcPts val="64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364500" y="434000"/>
            <a:ext cx="5751000" cy="682000"/>
          </a:xfrm>
          <a:prstGeom prst="rect">
            <a:avLst/>
          </a:prstGeom>
          <a:noFill/>
          <a:ln>
            <a:noFill/>
            <a:prstDash val="solid"/>
          </a:ln>
        </p:spPr>
        <p:txBody>
          <a:bodyPr wrap="square" lIns="0" tIns="0" rIns="0" bIns="0" anchor="t">
            <a:normAutofit/>
          </a:bodyPr>
          <a:lstStyle>
            <a:defPPr algn="l">
              <a:defRPr sz="1755"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364500" y="1550000"/>
            <a:ext cx="2673000" cy="3472000"/>
          </a:xfrm>
          <a:prstGeom prst="rect">
            <a:avLst/>
          </a:prstGeom>
          <a:noFill/>
          <a:ln>
            <a:noFill/>
            <a:prstDash val="solid"/>
          </a:ln>
        </p:spPr>
        <p:txBody>
          <a:bodyPr wrap="square" lIns="0" tIns="0" rIns="0" bIns="0" anchor="t">
            <a:normAutofit/>
          </a:bodyPr>
          <a:lstStyle>
            <a:defPPr algn="l">
              <a:defRPr sz="1195" b="0">
                <a:solidFill>
                  <a:schemeClr val="tx1"/>
                </a:solidFill>
                <a:latin typeface="Times New Roman" panose="02020603050405020304"/>
                <a:ea typeface="Times New Roman" panose="02020603050405020304"/>
                <a:cs typeface="Times New Roman" panose="02020603050405020304"/>
              </a:defRPr>
            </a:defPPr>
            <a:lvl1pPr marL="121285" indent="-121285">
              <a:lnSpc>
                <a:spcPct val="110000"/>
              </a:lnSpc>
              <a:spcBef>
                <a:spcPts val="0"/>
              </a:spcBef>
              <a:spcAft>
                <a:spcPts val="640"/>
              </a:spcAft>
              <a:buChar char="•"/>
            </a:lvl1pPr>
            <a:lvl2pPr marL="283210" indent="-121285">
              <a:lnSpc>
                <a:spcPct val="110000"/>
              </a:lnSpc>
              <a:spcBef>
                <a:spcPts val="0"/>
              </a:spcBef>
              <a:spcAft>
                <a:spcPts val="640"/>
              </a:spcAft>
              <a:buChar char="•"/>
            </a:lvl2pPr>
            <a:lvl3pPr marL="445770" indent="-121285">
              <a:lnSpc>
                <a:spcPct val="110000"/>
              </a:lnSpc>
              <a:spcBef>
                <a:spcPts val="0"/>
              </a:spcBef>
              <a:spcAft>
                <a:spcPts val="640"/>
              </a:spcAft>
              <a:buChar char="•"/>
            </a:lvl3pPr>
            <a:lvl4pPr marL="607695" indent="-121285">
              <a:lnSpc>
                <a:spcPct val="110000"/>
              </a:lnSpc>
              <a:spcBef>
                <a:spcPts val="0"/>
              </a:spcBef>
              <a:spcAft>
                <a:spcPts val="640"/>
              </a:spcAft>
              <a:buChar char="•"/>
            </a:lvl4pPr>
            <a:lvl5pPr marL="769620" indent="-121285">
              <a:lnSpc>
                <a:spcPct val="110000"/>
              </a:lnSpc>
              <a:spcBef>
                <a:spcPts val="0"/>
              </a:spcBef>
              <a:spcAft>
                <a:spcPts val="640"/>
              </a:spcAft>
              <a:buChar char="•"/>
            </a:lvl5pPr>
            <a:lvl6pPr marL="931545" indent="-121285">
              <a:lnSpc>
                <a:spcPct val="110000"/>
              </a:lnSpc>
              <a:spcBef>
                <a:spcPts val="0"/>
              </a:spcBef>
              <a:spcAft>
                <a:spcPts val="640"/>
              </a:spcAft>
              <a:buChar char="•"/>
            </a:lvl6pPr>
            <a:lvl7pPr marL="1093470" indent="-121285">
              <a:lnSpc>
                <a:spcPct val="110000"/>
              </a:lnSpc>
              <a:spcBef>
                <a:spcPts val="0"/>
              </a:spcBef>
              <a:spcAft>
                <a:spcPts val="640"/>
              </a:spcAft>
              <a:buChar char="•"/>
            </a:lvl7pPr>
            <a:lvl8pPr marL="1255395" indent="-121285">
              <a:lnSpc>
                <a:spcPct val="110000"/>
              </a:lnSpc>
              <a:spcBef>
                <a:spcPts val="0"/>
              </a:spcBef>
              <a:spcAft>
                <a:spcPts val="640"/>
              </a:spcAft>
              <a:buChar char="•"/>
            </a:lvl8pPr>
            <a:lvl9pPr marL="1417320" indent="-121285">
              <a:lnSpc>
                <a:spcPct val="110000"/>
              </a:lnSpc>
              <a:spcBef>
                <a:spcPts val="0"/>
              </a:spcBef>
              <a:spcAft>
                <a:spcPts val="64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Times New Roman" panose="02020603050405020304"/>
          <a:ea typeface="Times New Roman" panose="02020603050405020304"/>
          <a:cs typeface="Times New Roman" panose="02020603050405020304"/>
        </a:defRPr>
      </a:lvl1pPr>
    </p:titleStyle>
    <p:bodyStyle>
      <a:lvl1pPr marL="228600" indent="-228600" algn="l">
        <a:lnSpc>
          <a:spcPct val="90000"/>
        </a:lnSpc>
        <a:spcBef>
          <a:spcPts val="1000"/>
        </a:spcBef>
        <a:buChar char="•"/>
        <a:defRPr sz="2800">
          <a:solidFill>
            <a:schemeClr val="tx1"/>
          </a:solidFill>
          <a:latin typeface="Times New Roman" panose="02020603050405020304"/>
          <a:ea typeface="Times New Roman" panose="02020603050405020304"/>
          <a:cs typeface="Times New Roman" panose="02020603050405020304"/>
        </a:defRPr>
      </a:lvl1pPr>
      <a:lvl2pPr marL="685800" indent="-228600" algn="l">
        <a:lnSpc>
          <a:spcPct val="90000"/>
        </a:lnSpc>
        <a:spcBef>
          <a:spcPts val="500"/>
        </a:spcBef>
        <a:buChar char="•"/>
        <a:defRPr sz="2400">
          <a:solidFill>
            <a:schemeClr val="tx1"/>
          </a:solidFill>
          <a:latin typeface="Times New Roman" panose="02020603050405020304"/>
          <a:ea typeface="Times New Roman" panose="02020603050405020304"/>
          <a:cs typeface="Times New Roman" panose="02020603050405020304"/>
        </a:defRPr>
      </a:lvl2pPr>
      <a:lvl3pPr marL="1143000" indent="-228600" algn="l">
        <a:lnSpc>
          <a:spcPct val="90000"/>
        </a:lnSpc>
        <a:spcBef>
          <a:spcPts val="500"/>
        </a:spcBef>
        <a:buChar char="•"/>
        <a:defRPr sz="2000">
          <a:solidFill>
            <a:schemeClr val="tx1"/>
          </a:solidFill>
          <a:latin typeface="Times New Roman" panose="02020603050405020304"/>
          <a:ea typeface="Times New Roman" panose="02020603050405020304"/>
          <a:cs typeface="Times New Roman" panose="02020603050405020304"/>
        </a:defRPr>
      </a:lvl3pPr>
      <a:lvl4pPr marL="16002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4pPr>
      <a:lvl5pPr marL="20574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5pPr>
      <a:lvl6pPr marL="25146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6pPr>
      <a:lvl7pPr marL="29718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7pPr>
      <a:lvl8pPr marL="34290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8pPr>
      <a:lvl9pPr marL="38862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9pPr>
    </p:bodyStyle>
    <p:otherStyle>
      <a:lvl1pPr marL="0" algn="l">
        <a:buNone/>
        <a:defRPr sz="1800">
          <a:solidFill>
            <a:schemeClr val="tx1"/>
          </a:solidFill>
          <a:latin typeface="Times New Roman" panose="02020603050405020304"/>
          <a:ea typeface="Times New Roman" panose="02020603050405020304"/>
          <a:cs typeface="Times New Roman" panose="02020603050405020304"/>
        </a:defRPr>
      </a:lvl1pPr>
      <a:lvl2pPr marL="457200" algn="l">
        <a:buNone/>
        <a:defRPr sz="1800">
          <a:solidFill>
            <a:schemeClr val="tx1"/>
          </a:solidFill>
          <a:latin typeface="Times New Roman" panose="02020603050405020304"/>
          <a:ea typeface="Times New Roman" panose="02020603050405020304"/>
          <a:cs typeface="Times New Roman" panose="02020603050405020304"/>
        </a:defRPr>
      </a:lvl2pPr>
      <a:lvl3pPr marL="914400" algn="l">
        <a:buNone/>
        <a:defRPr sz="1800">
          <a:solidFill>
            <a:schemeClr val="tx1"/>
          </a:solidFill>
          <a:latin typeface="Times New Roman" panose="02020603050405020304"/>
          <a:ea typeface="Times New Roman" panose="02020603050405020304"/>
          <a:cs typeface="Times New Roman" panose="02020603050405020304"/>
        </a:defRPr>
      </a:lvl3pPr>
      <a:lvl4pPr marL="1371600" algn="l">
        <a:buNone/>
        <a:defRPr sz="1800">
          <a:solidFill>
            <a:schemeClr val="tx1"/>
          </a:solidFill>
          <a:latin typeface="Times New Roman" panose="02020603050405020304"/>
          <a:ea typeface="Times New Roman" panose="02020603050405020304"/>
          <a:cs typeface="Times New Roman" panose="02020603050405020304"/>
        </a:defRPr>
      </a:lvl4pPr>
      <a:lvl5pPr marL="1828800" algn="l">
        <a:buNone/>
        <a:defRPr sz="1800">
          <a:solidFill>
            <a:schemeClr val="tx1"/>
          </a:solidFill>
          <a:latin typeface="Times New Roman" panose="02020603050405020304"/>
          <a:ea typeface="Times New Roman" panose="02020603050405020304"/>
          <a:cs typeface="Times New Roman" panose="02020603050405020304"/>
        </a:defRPr>
      </a:lvl5pPr>
      <a:lvl6pPr marL="2286000" algn="l">
        <a:buNone/>
        <a:defRPr sz="1800">
          <a:solidFill>
            <a:schemeClr val="tx1"/>
          </a:solidFill>
          <a:latin typeface="Times New Roman" panose="02020603050405020304"/>
          <a:ea typeface="Times New Roman" panose="02020603050405020304"/>
          <a:cs typeface="Times New Roman" panose="02020603050405020304"/>
        </a:defRPr>
      </a:lvl6pPr>
      <a:lvl7pPr marL="2743200" algn="l">
        <a:buNone/>
        <a:defRPr sz="1800">
          <a:solidFill>
            <a:schemeClr val="tx1"/>
          </a:solidFill>
          <a:latin typeface="Times New Roman" panose="02020603050405020304"/>
          <a:ea typeface="Times New Roman" panose="02020603050405020304"/>
          <a:cs typeface="Times New Roman" panose="02020603050405020304"/>
        </a:defRPr>
      </a:lvl7pPr>
      <a:lvl8pPr marL="3200400" algn="l">
        <a:buNone/>
        <a:defRPr sz="1800">
          <a:solidFill>
            <a:schemeClr val="tx1"/>
          </a:solidFill>
          <a:latin typeface="Times New Roman" panose="02020603050405020304"/>
          <a:ea typeface="Times New Roman" panose="02020603050405020304"/>
          <a:cs typeface="Times New Roman" panose="02020603050405020304"/>
        </a:defRPr>
      </a:lvl8pPr>
      <a:lvl9pPr marL="3657600" algn="l">
        <a:buNone/>
        <a:defRPr sz="1800">
          <a:solidFill>
            <a:schemeClr val="tx1"/>
          </a:solidFill>
          <a:latin typeface="Times New Roman" panose="02020603050405020304"/>
          <a:ea typeface="Times New Roman" panose="02020603050405020304"/>
          <a:cs typeface="Times New Roman" panose="020206030504050203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6.xml"/><Relationship Id="rId5" Type="http://schemas.openxmlformats.org/officeDocument/2006/relationships/chart" Target="../charts/chart5.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21" name="A_map_original_uniformly_scaled"/>
          <p:cNvGrpSpPr/>
          <p:nvPr/>
        </p:nvGrpSpPr>
        <p:grpSpPr>
          <a:xfrm>
            <a:off x="151180" y="215315"/>
            <a:ext cx="1080000" cy="1361823"/>
            <a:chOff x="121690" y="156802"/>
            <a:chExt cx="1503742" cy="1896139"/>
          </a:xfrm>
        </p:grpSpPr>
        <p:sp>
          <p:nvSpPr>
            <p:cNvPr id="222" name="A_map_map_title_001"/>
            <p:cNvSpPr txBox="1"/>
            <p:nvPr/>
          </p:nvSpPr>
          <p:spPr>
            <a:xfrm>
              <a:off x="121690" y="156802"/>
              <a:ext cx="1503742" cy="119354"/>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l">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71A35"/>
                  </a:solidFill>
                  <a:latin typeface="Times New Roman" panose="02020603050405020304"/>
                  <a:ea typeface="Times New Roman" panose="02020603050405020304"/>
                  <a:cs typeface="Times New Roman" panose="02020603050405020304"/>
                </a:rPr>
                <a:t>Grid regions</a:t>
              </a:r>
              <a:endParaRPr sz="800" b="0" i="0">
                <a:solidFill>
                  <a:srgbClr val="071A35"/>
                </a:solidFill>
                <a:latin typeface="Times New Roman" panose="02020603050405020304"/>
                <a:ea typeface="Times New Roman" panose="02020603050405020304"/>
                <a:cs typeface="Times New Roman" panose="02020603050405020304"/>
              </a:endParaRPr>
            </a:p>
          </p:txBody>
        </p:sp>
        <p:sp>
          <p:nvSpPr>
            <p:cNvPr id="223" name="A_map_map_background_002"/>
            <p:cNvSpPr/>
            <p:nvPr/>
          </p:nvSpPr>
          <p:spPr>
            <a:xfrm>
              <a:off x="121690" y="306443"/>
              <a:ext cx="1503742" cy="1303252"/>
            </a:xfrm>
            <a:prstGeom prst="roundRect">
              <a:avLst>
                <a:gd name="adj" fmla="val 2491"/>
              </a:avLst>
            </a:prstGeom>
            <a:solidFill>
              <a:srgbClr val="F5F7F9"/>
            </a:solidFill>
            <a:ln w="12700">
              <a:solidFill>
                <a:srgbClr val="C6D0DB"/>
              </a:solidFill>
            </a:ln>
            <a:effectLst/>
          </p:spPr>
          <p:txBody>
            <a:bodyPr rtlCol="0" anchor="ctr"/>
            <a:lstStyle/>
            <a:p>
              <a:pPr algn="ctr"/>
            </a:p>
          </p:txBody>
        </p:sp>
        <p:cxnSp>
          <p:nvCxnSpPr>
            <p:cNvPr id="224" name="A_map_road_vertical_003"/>
            <p:cNvCxnSpPr/>
            <p:nvPr/>
          </p:nvCxnSpPr>
          <p:spPr>
            <a:xfrm>
              <a:off x="399839" y="341429"/>
              <a:ext cx="0" cy="1249497"/>
            </a:xfrm>
            <a:prstGeom prst="line">
              <a:avLst/>
            </a:prstGeom>
            <a:ln w="32596">
              <a:solidFill>
                <a:srgbClr val="B6BFC7"/>
              </a:solidFill>
            </a:ln>
            <a:effectLst/>
          </p:spPr>
        </p:cxnSp>
        <p:cxnSp>
          <p:nvCxnSpPr>
            <p:cNvPr id="225" name="A_map_road_vertical_004"/>
            <p:cNvCxnSpPr/>
            <p:nvPr/>
          </p:nvCxnSpPr>
          <p:spPr>
            <a:xfrm>
              <a:off x="660604" y="341429"/>
              <a:ext cx="0" cy="1249497"/>
            </a:xfrm>
            <a:prstGeom prst="line">
              <a:avLst/>
            </a:prstGeom>
            <a:ln w="32596">
              <a:solidFill>
                <a:srgbClr val="B6BFC7"/>
              </a:solidFill>
            </a:ln>
            <a:effectLst/>
          </p:spPr>
        </p:cxnSp>
        <p:cxnSp>
          <p:nvCxnSpPr>
            <p:cNvPr id="226" name="A_map_road_vertical_005"/>
            <p:cNvCxnSpPr/>
            <p:nvPr/>
          </p:nvCxnSpPr>
          <p:spPr>
            <a:xfrm>
              <a:off x="925714" y="341429"/>
              <a:ext cx="0" cy="1249497"/>
            </a:xfrm>
            <a:prstGeom prst="line">
              <a:avLst/>
            </a:prstGeom>
            <a:ln w="32596">
              <a:solidFill>
                <a:srgbClr val="B6BFC7"/>
              </a:solidFill>
            </a:ln>
            <a:effectLst/>
          </p:spPr>
        </p:cxnSp>
        <p:cxnSp>
          <p:nvCxnSpPr>
            <p:cNvPr id="227" name="A_map_road_vertical_006"/>
            <p:cNvCxnSpPr/>
            <p:nvPr/>
          </p:nvCxnSpPr>
          <p:spPr>
            <a:xfrm>
              <a:off x="1186479" y="341429"/>
              <a:ext cx="0" cy="1249497"/>
            </a:xfrm>
            <a:prstGeom prst="line">
              <a:avLst/>
            </a:prstGeom>
            <a:ln w="32596">
              <a:solidFill>
                <a:srgbClr val="B6BFC7"/>
              </a:solidFill>
            </a:ln>
            <a:effectLst/>
          </p:spPr>
        </p:cxnSp>
        <p:cxnSp>
          <p:nvCxnSpPr>
            <p:cNvPr id="228" name="A_map_road_horizontal_007"/>
            <p:cNvCxnSpPr/>
            <p:nvPr/>
          </p:nvCxnSpPr>
          <p:spPr>
            <a:xfrm>
              <a:off x="156459" y="581332"/>
              <a:ext cx="1312515" cy="0"/>
            </a:xfrm>
            <a:prstGeom prst="line">
              <a:avLst/>
            </a:prstGeom>
            <a:ln w="32596">
              <a:solidFill>
                <a:srgbClr val="B6BFC7"/>
              </a:solidFill>
            </a:ln>
            <a:effectLst/>
          </p:spPr>
        </p:cxnSp>
        <p:cxnSp>
          <p:nvCxnSpPr>
            <p:cNvPr id="229" name="A_map_road_horizontal_008"/>
            <p:cNvCxnSpPr/>
            <p:nvPr/>
          </p:nvCxnSpPr>
          <p:spPr>
            <a:xfrm>
              <a:off x="156459" y="881212"/>
              <a:ext cx="1312515" cy="0"/>
            </a:xfrm>
            <a:prstGeom prst="line">
              <a:avLst/>
            </a:prstGeom>
            <a:ln w="32596">
              <a:solidFill>
                <a:srgbClr val="B6BFC7"/>
              </a:solidFill>
            </a:ln>
            <a:effectLst/>
          </p:spPr>
        </p:cxnSp>
        <p:cxnSp>
          <p:nvCxnSpPr>
            <p:cNvPr id="230" name="A_map_road_horizontal_009"/>
            <p:cNvCxnSpPr/>
            <p:nvPr/>
          </p:nvCxnSpPr>
          <p:spPr>
            <a:xfrm>
              <a:off x="156459" y="1186089"/>
              <a:ext cx="1312515" cy="0"/>
            </a:xfrm>
            <a:prstGeom prst="line">
              <a:avLst/>
            </a:prstGeom>
            <a:ln w="32596">
              <a:solidFill>
                <a:srgbClr val="B6BFC7"/>
              </a:solidFill>
            </a:ln>
            <a:effectLst/>
          </p:spPr>
        </p:cxnSp>
        <p:cxnSp>
          <p:nvCxnSpPr>
            <p:cNvPr id="231" name="A_map_road_horizontal_010"/>
            <p:cNvCxnSpPr/>
            <p:nvPr/>
          </p:nvCxnSpPr>
          <p:spPr>
            <a:xfrm>
              <a:off x="156459" y="1480970"/>
              <a:ext cx="1312515" cy="0"/>
            </a:xfrm>
            <a:prstGeom prst="line">
              <a:avLst/>
            </a:prstGeom>
            <a:ln w="32596">
              <a:solidFill>
                <a:srgbClr val="B6BFC7"/>
              </a:solidFill>
            </a:ln>
            <a:effectLst/>
          </p:spPr>
        </p:cxnSp>
        <p:sp>
          <p:nvSpPr>
            <p:cNvPr id="232" name="A_map_candidate_j_cell_011"/>
            <p:cNvSpPr/>
            <p:nvPr/>
          </p:nvSpPr>
          <p:spPr>
            <a:xfrm>
              <a:off x="412877" y="596326"/>
              <a:ext cx="234688" cy="264893"/>
            </a:xfrm>
            <a:prstGeom prst="rect">
              <a:avLst/>
            </a:prstGeom>
            <a:solidFill>
              <a:srgbClr val="A8CB88"/>
            </a:solidFill>
            <a:ln w="12700">
              <a:noFill/>
            </a:ln>
            <a:effectLst/>
          </p:spPr>
          <p:txBody>
            <a:bodyPr rtlCol="0" anchor="ctr"/>
            <a:lstStyle/>
            <a:p>
              <a:pPr algn="ctr"/>
            </a:p>
          </p:txBody>
        </p:sp>
        <p:sp>
          <p:nvSpPr>
            <p:cNvPr id="233" name="A_map_target_r_cell_012"/>
            <p:cNvSpPr/>
            <p:nvPr/>
          </p:nvSpPr>
          <p:spPr>
            <a:xfrm>
              <a:off x="673642" y="896206"/>
              <a:ext cx="239034" cy="274889"/>
            </a:xfrm>
            <a:prstGeom prst="rect">
              <a:avLst/>
            </a:prstGeom>
            <a:solidFill>
              <a:srgbClr val="F7B17E"/>
            </a:solidFill>
            <a:ln w="12700">
              <a:noFill/>
            </a:ln>
            <a:effectLst/>
          </p:spPr>
          <p:txBody>
            <a:bodyPr rtlCol="0" anchor="ctr"/>
            <a:lstStyle/>
            <a:p>
              <a:pPr algn="ctr"/>
            </a:p>
          </p:txBody>
        </p:sp>
        <p:sp>
          <p:nvSpPr>
            <p:cNvPr id="234" name="A_map_candidate_i_cell_013"/>
            <p:cNvSpPr/>
            <p:nvPr/>
          </p:nvSpPr>
          <p:spPr>
            <a:xfrm>
              <a:off x="412877" y="1201082"/>
              <a:ext cx="234688" cy="264893"/>
            </a:xfrm>
            <a:prstGeom prst="rect">
              <a:avLst/>
            </a:prstGeom>
            <a:solidFill>
              <a:srgbClr val="A5C7E9"/>
            </a:solidFill>
            <a:ln w="12700">
              <a:noFill/>
            </a:ln>
            <a:effectLst/>
          </p:spPr>
          <p:txBody>
            <a:bodyPr rtlCol="0" anchor="ctr"/>
            <a:lstStyle/>
            <a:p>
              <a:pPr algn="ctr"/>
            </a:p>
          </p:txBody>
        </p:sp>
        <p:sp>
          <p:nvSpPr>
            <p:cNvPr id="235" name="A_map_road_junction_014"/>
            <p:cNvSpPr/>
            <p:nvPr/>
          </p:nvSpPr>
          <p:spPr>
            <a:xfrm>
              <a:off x="382455" y="561341"/>
              <a:ext cx="34769" cy="39984"/>
            </a:xfrm>
            <a:prstGeom prst="ellipse">
              <a:avLst/>
            </a:prstGeom>
            <a:solidFill>
              <a:srgbClr val="FFFFFF"/>
            </a:solidFill>
            <a:ln w="6036">
              <a:noFill/>
            </a:ln>
            <a:effectLst/>
          </p:spPr>
          <p:txBody>
            <a:bodyPr rtlCol="0" anchor="ctr"/>
            <a:lstStyle/>
            <a:p>
              <a:pPr algn="ctr"/>
            </a:p>
          </p:txBody>
        </p:sp>
        <p:sp>
          <p:nvSpPr>
            <p:cNvPr id="236" name="A_map_road_junction_015"/>
            <p:cNvSpPr/>
            <p:nvPr/>
          </p:nvSpPr>
          <p:spPr>
            <a:xfrm>
              <a:off x="382455" y="861219"/>
              <a:ext cx="34769" cy="39984"/>
            </a:xfrm>
            <a:prstGeom prst="ellipse">
              <a:avLst/>
            </a:prstGeom>
            <a:solidFill>
              <a:srgbClr val="FFFFFF"/>
            </a:solidFill>
            <a:ln w="6036">
              <a:noFill/>
            </a:ln>
            <a:effectLst/>
          </p:spPr>
          <p:txBody>
            <a:bodyPr rtlCol="0" anchor="ctr"/>
            <a:lstStyle/>
            <a:p>
              <a:pPr algn="ctr"/>
            </a:p>
          </p:txBody>
        </p:sp>
        <p:sp>
          <p:nvSpPr>
            <p:cNvPr id="237" name="A_map_road_junction_016"/>
            <p:cNvSpPr/>
            <p:nvPr/>
          </p:nvSpPr>
          <p:spPr>
            <a:xfrm>
              <a:off x="382455" y="1166097"/>
              <a:ext cx="34769" cy="39984"/>
            </a:xfrm>
            <a:prstGeom prst="ellipse">
              <a:avLst/>
            </a:prstGeom>
            <a:solidFill>
              <a:srgbClr val="FFFFFF"/>
            </a:solidFill>
            <a:ln w="6036">
              <a:noFill/>
            </a:ln>
            <a:effectLst/>
          </p:spPr>
          <p:txBody>
            <a:bodyPr rtlCol="0" anchor="ctr"/>
            <a:lstStyle/>
            <a:p>
              <a:pPr algn="ctr"/>
            </a:p>
          </p:txBody>
        </p:sp>
        <p:sp>
          <p:nvSpPr>
            <p:cNvPr id="238" name="A_map_road_junction_017"/>
            <p:cNvSpPr/>
            <p:nvPr/>
          </p:nvSpPr>
          <p:spPr>
            <a:xfrm>
              <a:off x="382455" y="1460978"/>
              <a:ext cx="34769" cy="39984"/>
            </a:xfrm>
            <a:prstGeom prst="ellipse">
              <a:avLst/>
            </a:prstGeom>
            <a:solidFill>
              <a:srgbClr val="FFFFFF"/>
            </a:solidFill>
            <a:ln w="6036">
              <a:noFill/>
            </a:ln>
            <a:effectLst/>
          </p:spPr>
          <p:txBody>
            <a:bodyPr rtlCol="0" anchor="ctr"/>
            <a:lstStyle/>
            <a:p>
              <a:pPr algn="ctr"/>
            </a:p>
          </p:txBody>
        </p:sp>
        <p:sp>
          <p:nvSpPr>
            <p:cNvPr id="239" name="A_map_road_junction_018"/>
            <p:cNvSpPr/>
            <p:nvPr/>
          </p:nvSpPr>
          <p:spPr>
            <a:xfrm>
              <a:off x="643219" y="561341"/>
              <a:ext cx="34769" cy="39984"/>
            </a:xfrm>
            <a:prstGeom prst="ellipse">
              <a:avLst/>
            </a:prstGeom>
            <a:solidFill>
              <a:srgbClr val="FFFFFF"/>
            </a:solidFill>
            <a:ln w="6036">
              <a:noFill/>
            </a:ln>
            <a:effectLst/>
          </p:spPr>
          <p:txBody>
            <a:bodyPr rtlCol="0" anchor="ctr"/>
            <a:lstStyle/>
            <a:p>
              <a:pPr algn="ctr"/>
            </a:p>
          </p:txBody>
        </p:sp>
        <p:sp>
          <p:nvSpPr>
            <p:cNvPr id="240" name="A_map_road_junction_019"/>
            <p:cNvSpPr/>
            <p:nvPr/>
          </p:nvSpPr>
          <p:spPr>
            <a:xfrm>
              <a:off x="643219" y="861219"/>
              <a:ext cx="34769" cy="39984"/>
            </a:xfrm>
            <a:prstGeom prst="ellipse">
              <a:avLst/>
            </a:prstGeom>
            <a:solidFill>
              <a:srgbClr val="FFFFFF"/>
            </a:solidFill>
            <a:ln w="6036">
              <a:noFill/>
            </a:ln>
            <a:effectLst/>
          </p:spPr>
          <p:txBody>
            <a:bodyPr rtlCol="0" anchor="ctr"/>
            <a:lstStyle/>
            <a:p>
              <a:pPr algn="ctr"/>
            </a:p>
          </p:txBody>
        </p:sp>
        <p:sp>
          <p:nvSpPr>
            <p:cNvPr id="241" name="A_map_road_junction_020"/>
            <p:cNvSpPr/>
            <p:nvPr/>
          </p:nvSpPr>
          <p:spPr>
            <a:xfrm>
              <a:off x="643219" y="1166097"/>
              <a:ext cx="34769" cy="39984"/>
            </a:xfrm>
            <a:prstGeom prst="ellipse">
              <a:avLst/>
            </a:prstGeom>
            <a:solidFill>
              <a:srgbClr val="FFFFFF"/>
            </a:solidFill>
            <a:ln w="6036">
              <a:noFill/>
            </a:ln>
            <a:effectLst/>
          </p:spPr>
          <p:txBody>
            <a:bodyPr rtlCol="0" anchor="ctr"/>
            <a:lstStyle/>
            <a:p>
              <a:pPr algn="ctr"/>
            </a:p>
          </p:txBody>
        </p:sp>
        <p:sp>
          <p:nvSpPr>
            <p:cNvPr id="242" name="A_map_road_junction_021"/>
            <p:cNvSpPr/>
            <p:nvPr/>
          </p:nvSpPr>
          <p:spPr>
            <a:xfrm>
              <a:off x="643219" y="1460978"/>
              <a:ext cx="34769" cy="39984"/>
            </a:xfrm>
            <a:prstGeom prst="ellipse">
              <a:avLst/>
            </a:prstGeom>
            <a:solidFill>
              <a:srgbClr val="FFFFFF"/>
            </a:solidFill>
            <a:ln w="6036">
              <a:noFill/>
            </a:ln>
            <a:effectLst/>
          </p:spPr>
          <p:txBody>
            <a:bodyPr rtlCol="0" anchor="ctr"/>
            <a:lstStyle/>
            <a:p>
              <a:pPr algn="ctr"/>
            </a:p>
          </p:txBody>
        </p:sp>
        <p:sp>
          <p:nvSpPr>
            <p:cNvPr id="243" name="A_map_road_junction_022"/>
            <p:cNvSpPr/>
            <p:nvPr/>
          </p:nvSpPr>
          <p:spPr>
            <a:xfrm>
              <a:off x="908330" y="561341"/>
              <a:ext cx="34769" cy="39984"/>
            </a:xfrm>
            <a:prstGeom prst="ellipse">
              <a:avLst/>
            </a:prstGeom>
            <a:solidFill>
              <a:srgbClr val="FFFFFF"/>
            </a:solidFill>
            <a:ln w="6036">
              <a:noFill/>
            </a:ln>
            <a:effectLst/>
          </p:spPr>
          <p:txBody>
            <a:bodyPr rtlCol="0" anchor="ctr"/>
            <a:lstStyle/>
            <a:p>
              <a:pPr algn="ctr"/>
            </a:p>
          </p:txBody>
        </p:sp>
        <p:sp>
          <p:nvSpPr>
            <p:cNvPr id="244" name="A_map_road_junction_023"/>
            <p:cNvSpPr/>
            <p:nvPr/>
          </p:nvSpPr>
          <p:spPr>
            <a:xfrm>
              <a:off x="908330" y="861219"/>
              <a:ext cx="34769" cy="39984"/>
            </a:xfrm>
            <a:prstGeom prst="ellipse">
              <a:avLst/>
            </a:prstGeom>
            <a:solidFill>
              <a:srgbClr val="FFFFFF"/>
            </a:solidFill>
            <a:ln w="6036">
              <a:noFill/>
            </a:ln>
            <a:effectLst/>
          </p:spPr>
          <p:txBody>
            <a:bodyPr rtlCol="0" anchor="ctr"/>
            <a:lstStyle/>
            <a:p>
              <a:pPr algn="ctr"/>
            </a:p>
          </p:txBody>
        </p:sp>
        <p:sp>
          <p:nvSpPr>
            <p:cNvPr id="245" name="A_map_road_junction_024"/>
            <p:cNvSpPr/>
            <p:nvPr/>
          </p:nvSpPr>
          <p:spPr>
            <a:xfrm>
              <a:off x="908330" y="1166097"/>
              <a:ext cx="34769" cy="39984"/>
            </a:xfrm>
            <a:prstGeom prst="ellipse">
              <a:avLst/>
            </a:prstGeom>
            <a:solidFill>
              <a:srgbClr val="FFFFFF"/>
            </a:solidFill>
            <a:ln w="6036">
              <a:noFill/>
            </a:ln>
            <a:effectLst/>
          </p:spPr>
          <p:txBody>
            <a:bodyPr rtlCol="0" anchor="ctr"/>
            <a:lstStyle/>
            <a:p>
              <a:pPr algn="ctr"/>
            </a:p>
          </p:txBody>
        </p:sp>
        <p:sp>
          <p:nvSpPr>
            <p:cNvPr id="246" name="A_map_road_junction_025"/>
            <p:cNvSpPr/>
            <p:nvPr/>
          </p:nvSpPr>
          <p:spPr>
            <a:xfrm>
              <a:off x="908330" y="1460978"/>
              <a:ext cx="34769" cy="39984"/>
            </a:xfrm>
            <a:prstGeom prst="ellipse">
              <a:avLst/>
            </a:prstGeom>
            <a:solidFill>
              <a:srgbClr val="FFFFFF"/>
            </a:solidFill>
            <a:ln w="6036">
              <a:noFill/>
            </a:ln>
            <a:effectLst/>
          </p:spPr>
          <p:txBody>
            <a:bodyPr rtlCol="0" anchor="ctr"/>
            <a:lstStyle/>
            <a:p>
              <a:pPr algn="ctr"/>
            </a:p>
          </p:txBody>
        </p:sp>
        <p:sp>
          <p:nvSpPr>
            <p:cNvPr id="247" name="A_map_road_junction_026"/>
            <p:cNvSpPr/>
            <p:nvPr/>
          </p:nvSpPr>
          <p:spPr>
            <a:xfrm>
              <a:off x="1169095" y="561341"/>
              <a:ext cx="34769" cy="39984"/>
            </a:xfrm>
            <a:prstGeom prst="ellipse">
              <a:avLst/>
            </a:prstGeom>
            <a:solidFill>
              <a:srgbClr val="FFFFFF"/>
            </a:solidFill>
            <a:ln w="6036">
              <a:noFill/>
            </a:ln>
            <a:effectLst/>
          </p:spPr>
          <p:txBody>
            <a:bodyPr rtlCol="0" anchor="ctr"/>
            <a:lstStyle/>
            <a:p>
              <a:pPr algn="ctr"/>
            </a:p>
          </p:txBody>
        </p:sp>
        <p:sp>
          <p:nvSpPr>
            <p:cNvPr id="248" name="A_map_road_junction_027"/>
            <p:cNvSpPr/>
            <p:nvPr/>
          </p:nvSpPr>
          <p:spPr>
            <a:xfrm>
              <a:off x="1169095" y="861219"/>
              <a:ext cx="34769" cy="39984"/>
            </a:xfrm>
            <a:prstGeom prst="ellipse">
              <a:avLst/>
            </a:prstGeom>
            <a:solidFill>
              <a:srgbClr val="FFFFFF"/>
            </a:solidFill>
            <a:ln w="6036">
              <a:noFill/>
            </a:ln>
            <a:effectLst/>
          </p:spPr>
          <p:txBody>
            <a:bodyPr rtlCol="0" anchor="ctr"/>
            <a:lstStyle/>
            <a:p>
              <a:pPr algn="ctr"/>
            </a:p>
          </p:txBody>
        </p:sp>
        <p:sp>
          <p:nvSpPr>
            <p:cNvPr id="249" name="A_map_road_junction_028"/>
            <p:cNvSpPr/>
            <p:nvPr/>
          </p:nvSpPr>
          <p:spPr>
            <a:xfrm>
              <a:off x="1169095" y="1166097"/>
              <a:ext cx="34769" cy="39984"/>
            </a:xfrm>
            <a:prstGeom prst="ellipse">
              <a:avLst/>
            </a:prstGeom>
            <a:solidFill>
              <a:srgbClr val="FFFFFF"/>
            </a:solidFill>
            <a:ln w="6036">
              <a:noFill/>
            </a:ln>
            <a:effectLst/>
          </p:spPr>
          <p:txBody>
            <a:bodyPr rtlCol="0" anchor="ctr"/>
            <a:lstStyle/>
            <a:p>
              <a:pPr algn="ctr"/>
            </a:p>
          </p:txBody>
        </p:sp>
        <p:sp>
          <p:nvSpPr>
            <p:cNvPr id="250" name="A_map_road_junction_029"/>
            <p:cNvSpPr/>
            <p:nvPr/>
          </p:nvSpPr>
          <p:spPr>
            <a:xfrm>
              <a:off x="1169095" y="1460978"/>
              <a:ext cx="34769" cy="39984"/>
            </a:xfrm>
            <a:prstGeom prst="ellipse">
              <a:avLst/>
            </a:prstGeom>
            <a:solidFill>
              <a:srgbClr val="FFFFFF"/>
            </a:solidFill>
            <a:ln w="6036">
              <a:noFill/>
            </a:ln>
            <a:effectLst/>
          </p:spPr>
          <p:txBody>
            <a:bodyPr rtlCol="0" anchor="ctr"/>
            <a:lstStyle/>
            <a:p>
              <a:pPr algn="ctr"/>
            </a:p>
          </p:txBody>
        </p:sp>
        <p:sp>
          <p:nvSpPr>
            <p:cNvPr id="251" name="A_map_grid_region_label_030"/>
            <p:cNvSpPr txBox="1"/>
            <p:nvPr/>
          </p:nvSpPr>
          <p:spPr>
            <a:xfrm>
              <a:off x="412877" y="658123"/>
              <a:ext cx="234688" cy="141300"/>
            </a:xfrm>
            <a:prstGeom prst="rect">
              <a:avLst/>
            </a:prstGeom>
            <a:noFill/>
            <a:effectLst/>
          </p:spPr>
          <p:txBody>
            <a:bodyPr wrap="none" lIns="0" tIns="0" rIns="0" bIns="0" anchor="ctr">
              <a:noAutofit/>
            </a:bodyPr>
            <a:lstStyle>
              <a:defPPr>
                <a:defRPr sz="1000" b="1">
                  <a:latin typeface="Times New Roman" panose="02020603050405020304"/>
                  <a:ea typeface="Times New Roman" panose="02020603050405020304"/>
                  <a:cs typeface="Times New Roman" panose="02020603050405020304"/>
                </a:defRPr>
              </a:defPPr>
            </a:lstStyle>
            <a:p>
              <a:pPr algn="ctr">
                <a:lnSpc>
                  <a:spcPts val="1170"/>
                </a:lnSpc>
                <a:spcBef>
                  <a:spcPts val="0"/>
                </a:spcBef>
                <a:spcAft>
                  <a:spcPts val="0"/>
                </a:spcAft>
                <a:buNone/>
                <a:defRPr sz="1000" b="1">
                  <a:latin typeface="Times New Roman" panose="02020603050405020304"/>
                  <a:ea typeface="Times New Roman" panose="02020603050405020304"/>
                  <a:cs typeface="Times New Roman" panose="02020603050405020304"/>
                </a:defRPr>
              </a:pPr>
              <a:r>
                <a:rPr sz="1000" b="1" i="1">
                  <a:solidFill>
                    <a:srgbClr val="071A35"/>
                  </a:solidFill>
                  <a:latin typeface="STIXGeneral"/>
                  <a:ea typeface="STIXGeneral"/>
                  <a:cs typeface="STIXGeneral"/>
                </a:rPr>
                <a:t>j</a:t>
              </a:r>
              <a:endParaRPr sz="1000" b="1" i="1">
                <a:solidFill>
                  <a:srgbClr val="071A35"/>
                </a:solidFill>
                <a:latin typeface="STIXGeneral"/>
                <a:ea typeface="STIXGeneral"/>
                <a:cs typeface="STIXGeneral"/>
              </a:endParaRPr>
            </a:p>
          </p:txBody>
        </p:sp>
        <p:sp>
          <p:nvSpPr>
            <p:cNvPr id="252" name="A_map_grid_region_label_031"/>
            <p:cNvSpPr txBox="1"/>
            <p:nvPr/>
          </p:nvSpPr>
          <p:spPr>
            <a:xfrm>
              <a:off x="673642" y="985434"/>
              <a:ext cx="234688" cy="86436"/>
            </a:xfrm>
            <a:prstGeom prst="rect">
              <a:avLst/>
            </a:prstGeom>
            <a:noFill/>
            <a:effectLst/>
          </p:spPr>
          <p:txBody>
            <a:bodyPr wrap="none" lIns="0" tIns="0" rIns="0" bIns="0" anchor="ctr">
              <a:noAutofit/>
            </a:bodyPr>
            <a:lstStyle>
              <a:defPPr>
                <a:defRPr sz="1000" b="1">
                  <a:latin typeface="Times New Roman" panose="02020603050405020304"/>
                  <a:ea typeface="Times New Roman" panose="02020603050405020304"/>
                  <a:cs typeface="Times New Roman" panose="02020603050405020304"/>
                </a:defRPr>
              </a:defPPr>
            </a:lstStyle>
            <a:p>
              <a:pPr algn="ctr">
                <a:lnSpc>
                  <a:spcPts val="1170"/>
                </a:lnSpc>
                <a:spcBef>
                  <a:spcPts val="0"/>
                </a:spcBef>
                <a:spcAft>
                  <a:spcPts val="0"/>
                </a:spcAft>
                <a:buNone/>
                <a:defRPr sz="1000" b="1">
                  <a:latin typeface="Times New Roman" panose="02020603050405020304"/>
                  <a:ea typeface="Times New Roman" panose="02020603050405020304"/>
                  <a:cs typeface="Times New Roman" panose="02020603050405020304"/>
                </a:defRPr>
              </a:pPr>
              <a:r>
                <a:rPr sz="1000" b="1" i="1">
                  <a:solidFill>
                    <a:srgbClr val="071A35"/>
                  </a:solidFill>
                  <a:latin typeface="STIXGeneral"/>
                  <a:ea typeface="STIXGeneral"/>
                  <a:cs typeface="STIXGeneral"/>
                </a:rPr>
                <a:t>r</a:t>
              </a:r>
              <a:endParaRPr sz="1000" b="1" i="1">
                <a:solidFill>
                  <a:srgbClr val="071A35"/>
                </a:solidFill>
                <a:latin typeface="STIXGeneral"/>
                <a:ea typeface="STIXGeneral"/>
                <a:cs typeface="STIXGeneral"/>
              </a:endParaRPr>
            </a:p>
          </p:txBody>
        </p:sp>
        <p:sp>
          <p:nvSpPr>
            <p:cNvPr id="253" name="A_map_grid_region_label_032"/>
            <p:cNvSpPr txBox="1"/>
            <p:nvPr/>
          </p:nvSpPr>
          <p:spPr>
            <a:xfrm>
              <a:off x="412877" y="1275680"/>
              <a:ext cx="234688" cy="115697"/>
            </a:xfrm>
            <a:prstGeom prst="rect">
              <a:avLst/>
            </a:prstGeom>
            <a:noFill/>
            <a:effectLst/>
          </p:spPr>
          <p:txBody>
            <a:bodyPr wrap="none" lIns="0" tIns="0" rIns="0" bIns="0" anchor="ctr">
              <a:noAutofit/>
            </a:bodyPr>
            <a:lstStyle>
              <a:defPPr>
                <a:defRPr sz="1000" b="1">
                  <a:latin typeface="Times New Roman" panose="02020603050405020304"/>
                  <a:ea typeface="Times New Roman" panose="02020603050405020304"/>
                  <a:cs typeface="Times New Roman" panose="02020603050405020304"/>
                </a:defRPr>
              </a:defPPr>
            </a:lstStyle>
            <a:p>
              <a:pPr algn="ctr">
                <a:lnSpc>
                  <a:spcPts val="1170"/>
                </a:lnSpc>
                <a:spcBef>
                  <a:spcPts val="0"/>
                </a:spcBef>
                <a:spcAft>
                  <a:spcPts val="0"/>
                </a:spcAft>
                <a:buNone/>
                <a:defRPr sz="1000" b="1">
                  <a:latin typeface="Times New Roman" panose="02020603050405020304"/>
                  <a:ea typeface="Times New Roman" panose="02020603050405020304"/>
                  <a:cs typeface="Times New Roman" panose="02020603050405020304"/>
                </a:defRPr>
              </a:pPr>
              <a:r>
                <a:rPr sz="1000" b="1" i="1">
                  <a:solidFill>
                    <a:srgbClr val="071A35"/>
                  </a:solidFill>
                  <a:latin typeface="STIXGeneral"/>
                  <a:ea typeface="STIXGeneral"/>
                  <a:cs typeface="STIXGeneral"/>
                </a:rPr>
                <a:t>i</a:t>
              </a:r>
              <a:endParaRPr sz="1000" b="1" i="1">
                <a:solidFill>
                  <a:srgbClr val="071A35"/>
                </a:solidFill>
                <a:latin typeface="STIXGeneral"/>
                <a:ea typeface="STIXGeneral"/>
                <a:cs typeface="STIXGeneral"/>
              </a:endParaRPr>
            </a:p>
          </p:txBody>
        </p:sp>
        <p:sp>
          <p:nvSpPr>
            <p:cNvPr id="254" name="A_map_candidate_j_association_033"/>
            <p:cNvSpPr/>
            <p:nvPr/>
          </p:nvSpPr>
          <p:spPr>
            <a:xfrm>
              <a:off x="695372" y="706282"/>
              <a:ext cx="91268" cy="134946"/>
            </a:xfrm>
            <a:custGeom>
              <a:avLst/>
              <a:gdLst/>
              <a:ahLst/>
              <a:cxnLst/>
              <a:rect l="l" t="t" r="r" b="b"/>
              <a:pathLst>
                <a:path w="192024" h="246888">
                  <a:moveTo>
                    <a:pt x="192024" y="246888"/>
                  </a:moveTo>
                  <a:lnTo>
                    <a:pt x="192024" y="173736"/>
                  </a:lnTo>
                  <a:lnTo>
                    <a:pt x="155448" y="100584"/>
                  </a:lnTo>
                  <a:lnTo>
                    <a:pt x="100584" y="36576"/>
                  </a:lnTo>
                  <a:lnTo>
                    <a:pt x="0" y="0"/>
                  </a:lnTo>
                </a:path>
              </a:pathLst>
            </a:custGeom>
            <a:noFill/>
            <a:ln w="12700">
              <a:solidFill>
                <a:srgbClr val="2C7558"/>
              </a:solidFill>
              <a:prstDash val="dash"/>
              <a:headEnd type="triangle" w="sm" len="sm"/>
              <a:tailEnd type="triangle" w="sm" len="sm"/>
            </a:ln>
            <a:effectLst/>
          </p:spPr>
          <p:txBody>
            <a:bodyPr rtlCol="0" anchor="ctr"/>
            <a:lstStyle/>
            <a:p>
              <a:pPr algn="ctr"/>
            </a:p>
          </p:txBody>
        </p:sp>
        <p:sp>
          <p:nvSpPr>
            <p:cNvPr id="255" name="A_map_candidate_i_association_034"/>
            <p:cNvSpPr/>
            <p:nvPr/>
          </p:nvSpPr>
          <p:spPr>
            <a:xfrm>
              <a:off x="695372" y="1206080"/>
              <a:ext cx="134728" cy="169932"/>
            </a:xfrm>
            <a:custGeom>
              <a:avLst/>
              <a:gdLst/>
              <a:ahLst/>
              <a:cxnLst/>
              <a:rect l="l" t="t" r="r" b="b"/>
              <a:pathLst>
                <a:path w="283464" h="310896">
                  <a:moveTo>
                    <a:pt x="0" y="310896"/>
                  </a:moveTo>
                  <a:lnTo>
                    <a:pt x="128016" y="256032"/>
                  </a:lnTo>
                  <a:lnTo>
                    <a:pt x="201168" y="164592"/>
                  </a:lnTo>
                  <a:lnTo>
                    <a:pt x="283464" y="0"/>
                  </a:lnTo>
                </a:path>
              </a:pathLst>
            </a:custGeom>
            <a:noFill/>
            <a:ln w="12700">
              <a:solidFill>
                <a:srgbClr val="3477B7"/>
              </a:solidFill>
              <a:prstDash val="dash"/>
              <a:headEnd type="triangle" w="sm" len="sm"/>
              <a:tailEnd type="triangle" w="sm" len="sm"/>
            </a:ln>
            <a:effectLst/>
          </p:spPr>
          <p:txBody>
            <a:bodyPr rtlCol="0" anchor="ctr"/>
            <a:lstStyle/>
            <a:p>
              <a:pPr algn="ctr"/>
            </a:p>
          </p:txBody>
        </p:sp>
        <p:sp>
          <p:nvSpPr>
            <p:cNvPr id="256" name="A_map_incident_symbol_035"/>
            <p:cNvSpPr/>
            <p:nvPr/>
          </p:nvSpPr>
          <p:spPr>
            <a:xfrm>
              <a:off x="947445" y="951184"/>
              <a:ext cx="147767" cy="159935"/>
            </a:xfrm>
            <a:prstGeom prst="triangle">
              <a:avLst/>
            </a:prstGeom>
            <a:solidFill>
              <a:srgbClr val="D92C21"/>
            </a:solidFill>
            <a:ln w="12700">
              <a:noFill/>
            </a:ln>
            <a:effectLst/>
          </p:spPr>
          <p:txBody>
            <a:bodyPr rtlCol="0" anchor="ctr"/>
            <a:lstStyle/>
            <a:p>
              <a:pPr algn="ctr"/>
            </a:p>
          </p:txBody>
        </p:sp>
        <p:sp>
          <p:nvSpPr>
            <p:cNvPr id="257" name="A_map_incident_exclamation_036"/>
            <p:cNvSpPr txBox="1"/>
            <p:nvPr/>
          </p:nvSpPr>
          <p:spPr>
            <a:xfrm>
              <a:off x="947445" y="980800"/>
              <a:ext cx="147767" cy="115697"/>
            </a:xfrm>
            <a:prstGeom prst="rect">
              <a:avLst/>
            </a:prstGeom>
            <a:noFill/>
            <a:effectLst/>
          </p:spPr>
          <p:txBody>
            <a:bodyPr wrap="none" lIns="0" tIns="0" rIns="0" bIns="0" anchor="ctr">
              <a:noAutofit/>
            </a:bodyPr>
            <a:lstStyle>
              <a:defPPr>
                <a:defRPr sz="1000" b="1">
                  <a:latin typeface="Times New Roman" panose="02020603050405020304"/>
                  <a:ea typeface="Times New Roman" panose="02020603050405020304"/>
                  <a:cs typeface="Times New Roman" panose="02020603050405020304"/>
                </a:defRPr>
              </a:defPPr>
            </a:lstStyle>
            <a:p>
              <a:pPr algn="ctr">
                <a:lnSpc>
                  <a:spcPts val="1170"/>
                </a:lnSpc>
                <a:spcBef>
                  <a:spcPts val="0"/>
                </a:spcBef>
                <a:spcAft>
                  <a:spcPts val="0"/>
                </a:spcAft>
                <a:buNone/>
                <a:defRPr sz="1000" b="1">
                  <a:latin typeface="Times New Roman" panose="02020603050405020304"/>
                  <a:ea typeface="Times New Roman" panose="02020603050405020304"/>
                  <a:cs typeface="Times New Roman" panose="02020603050405020304"/>
                </a:defRPr>
              </a:pPr>
              <a:r>
                <a:rPr sz="1000" b="1" i="0">
                  <a:solidFill>
                    <a:srgbClr val="FFFFFF"/>
                  </a:solidFill>
                  <a:latin typeface="Times New Roman" panose="02020603050405020304"/>
                  <a:ea typeface="Times New Roman" panose="02020603050405020304"/>
                  <a:cs typeface="Times New Roman" panose="02020603050405020304"/>
                </a:rPr>
                <a:t>!</a:t>
              </a:r>
              <a:endParaRPr sz="1000" b="1" i="0">
                <a:solidFill>
                  <a:srgbClr val="FFFFFF"/>
                </a:solidFill>
                <a:latin typeface="Times New Roman" panose="02020603050405020304"/>
                <a:ea typeface="Times New Roman" panose="02020603050405020304"/>
                <a:cs typeface="Times New Roman" panose="02020603050405020304"/>
              </a:endParaRPr>
            </a:p>
          </p:txBody>
        </p:sp>
        <p:sp>
          <p:nvSpPr>
            <p:cNvPr id="258" name="A_map_north_label_038"/>
            <p:cNvSpPr txBox="1"/>
            <p:nvPr/>
          </p:nvSpPr>
          <p:spPr>
            <a:xfrm>
              <a:off x="1508089" y="346575"/>
              <a:ext cx="91268" cy="94666"/>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ctr">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71A35"/>
                  </a:solidFill>
                  <a:latin typeface="Times New Roman" panose="02020603050405020304"/>
                  <a:ea typeface="Times New Roman" panose="02020603050405020304"/>
                  <a:cs typeface="Times New Roman" panose="02020603050405020304"/>
                </a:rPr>
                <a:t>N</a:t>
              </a:r>
              <a:endParaRPr sz="800" b="0" i="0">
                <a:solidFill>
                  <a:srgbClr val="071A35"/>
                </a:solidFill>
                <a:latin typeface="Times New Roman" panose="02020603050405020304"/>
                <a:ea typeface="Times New Roman" panose="02020603050405020304"/>
                <a:cs typeface="Times New Roman" panose="02020603050405020304"/>
              </a:endParaRPr>
            </a:p>
          </p:txBody>
        </p:sp>
        <p:sp>
          <p:nvSpPr>
            <p:cNvPr id="259" name="A_map_north_arrow_039"/>
            <p:cNvSpPr/>
            <p:nvPr/>
          </p:nvSpPr>
          <p:spPr>
            <a:xfrm rot="16200000">
              <a:off x="1499396" y="476374"/>
              <a:ext cx="117344" cy="79968"/>
            </a:xfrm>
            <a:prstGeom prst="chevron">
              <a:avLst/>
            </a:prstGeom>
            <a:solidFill>
              <a:srgbClr val="131A22"/>
            </a:solidFill>
            <a:ln w="12700">
              <a:noFill/>
            </a:ln>
            <a:effectLst/>
          </p:spPr>
          <p:txBody>
            <a:bodyPr rtlCol="0" anchor="ctr"/>
            <a:lstStyle/>
            <a:p>
              <a:pPr algn="ctr"/>
            </a:p>
          </p:txBody>
        </p:sp>
        <p:sp>
          <p:nvSpPr>
            <p:cNvPr id="260" name="A_map_region_r_040"/>
            <p:cNvSpPr/>
            <p:nvPr/>
          </p:nvSpPr>
          <p:spPr>
            <a:xfrm>
              <a:off x="173843" y="1660897"/>
              <a:ext cx="130382" cy="119952"/>
            </a:xfrm>
            <a:prstGeom prst="roundRect">
              <a:avLst>
                <a:gd name="adj" fmla="val 20833"/>
              </a:avLst>
            </a:prstGeom>
            <a:solidFill>
              <a:srgbClr val="D95A09"/>
            </a:solidFill>
            <a:ln w="12700">
              <a:noFill/>
            </a:ln>
            <a:effectLst/>
          </p:spPr>
          <p:txBody>
            <a:bodyPr rtlCol="0" anchor="ctr"/>
            <a:lstStyle/>
            <a:p>
              <a:pPr algn="ctr"/>
            </a:p>
          </p:txBody>
        </p:sp>
        <p:sp>
          <p:nvSpPr>
            <p:cNvPr id="261" name="A_map_region_label_r_041"/>
            <p:cNvSpPr txBox="1"/>
            <p:nvPr/>
          </p:nvSpPr>
          <p:spPr>
            <a:xfrm>
              <a:off x="173843" y="1684056"/>
              <a:ext cx="130382" cy="73634"/>
            </a:xfrm>
            <a:prstGeom prst="rect">
              <a:avLst/>
            </a:prstGeom>
            <a:noFill/>
            <a:effectLst/>
          </p:spPr>
          <p:txBody>
            <a:bodyPr wrap="none" lIns="0" tIns="0" rIns="0" bIns="0" anchor="ctr">
              <a:noAutofit/>
            </a:bodyPr>
            <a:lstStyle>
              <a:defPPr>
                <a:defRPr sz="800" b="1">
                  <a:latin typeface="Times New Roman" panose="02020603050405020304"/>
                  <a:ea typeface="Times New Roman" panose="02020603050405020304"/>
                  <a:cs typeface="Times New Roman" panose="02020603050405020304"/>
                </a:defRPr>
              </a:defPPr>
            </a:lstStyle>
            <a:p>
              <a:pPr algn="ctr">
                <a:lnSpc>
                  <a:spcPts val="935"/>
                </a:lnSpc>
                <a:spcBef>
                  <a:spcPts val="0"/>
                </a:spcBef>
                <a:spcAft>
                  <a:spcPts val="0"/>
                </a:spcAft>
                <a:buNone/>
                <a:defRPr sz="800" b="1">
                  <a:latin typeface="Times New Roman" panose="02020603050405020304"/>
                  <a:ea typeface="Times New Roman" panose="02020603050405020304"/>
                  <a:cs typeface="Times New Roman" panose="02020603050405020304"/>
                </a:defRPr>
              </a:pPr>
              <a:r>
                <a:rPr sz="800" b="1" i="1">
                  <a:solidFill>
                    <a:srgbClr val="FFFFFF"/>
                  </a:solidFill>
                  <a:latin typeface="STIXGeneral"/>
                  <a:ea typeface="STIXGeneral"/>
                  <a:cs typeface="STIXGeneral"/>
                </a:rPr>
                <a:t>r</a:t>
              </a:r>
              <a:endParaRPr sz="800" b="1" i="1">
                <a:solidFill>
                  <a:srgbClr val="FFFFFF"/>
                </a:solidFill>
                <a:latin typeface="STIXGeneral"/>
                <a:ea typeface="STIXGeneral"/>
                <a:cs typeface="STIXGeneral"/>
              </a:endParaRPr>
            </a:p>
          </p:txBody>
        </p:sp>
        <p:sp>
          <p:nvSpPr>
            <p:cNvPr id="262" name="A_map_region_legend_042"/>
            <p:cNvSpPr txBox="1"/>
            <p:nvPr/>
          </p:nvSpPr>
          <p:spPr>
            <a:xfrm>
              <a:off x="365070" y="1663695"/>
              <a:ext cx="912676" cy="119354"/>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l">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71A35"/>
                  </a:solidFill>
                  <a:latin typeface="Times New Roman" panose="02020603050405020304"/>
                  <a:ea typeface="Times New Roman" panose="02020603050405020304"/>
                  <a:cs typeface="Times New Roman" panose="02020603050405020304"/>
                </a:rPr>
                <a:t>Target region</a:t>
              </a:r>
              <a:endParaRPr sz="800" b="0" i="0">
                <a:solidFill>
                  <a:srgbClr val="071A35"/>
                </a:solidFill>
                <a:latin typeface="Times New Roman" panose="02020603050405020304"/>
                <a:ea typeface="Times New Roman" panose="02020603050405020304"/>
                <a:cs typeface="Times New Roman" panose="02020603050405020304"/>
              </a:endParaRPr>
            </a:p>
          </p:txBody>
        </p:sp>
        <p:sp>
          <p:nvSpPr>
            <p:cNvPr id="263" name="A_map_region_i_043"/>
            <p:cNvSpPr/>
            <p:nvPr/>
          </p:nvSpPr>
          <p:spPr>
            <a:xfrm>
              <a:off x="173843" y="1795844"/>
              <a:ext cx="130382" cy="119952"/>
            </a:xfrm>
            <a:prstGeom prst="roundRect">
              <a:avLst>
                <a:gd name="adj" fmla="val 20833"/>
              </a:avLst>
            </a:prstGeom>
            <a:solidFill>
              <a:srgbClr val="3477B7"/>
            </a:solidFill>
            <a:ln w="12700">
              <a:noFill/>
            </a:ln>
            <a:effectLst/>
          </p:spPr>
          <p:txBody>
            <a:bodyPr rtlCol="0" anchor="ctr"/>
            <a:lstStyle/>
            <a:p>
              <a:pPr algn="ctr"/>
            </a:p>
          </p:txBody>
        </p:sp>
        <p:sp>
          <p:nvSpPr>
            <p:cNvPr id="264" name="A_map_region_label_i_044"/>
            <p:cNvSpPr txBox="1"/>
            <p:nvPr/>
          </p:nvSpPr>
          <p:spPr>
            <a:xfrm>
              <a:off x="173843" y="1808030"/>
              <a:ext cx="130382" cy="95580"/>
            </a:xfrm>
            <a:prstGeom prst="rect">
              <a:avLst/>
            </a:prstGeom>
            <a:noFill/>
            <a:effectLst/>
          </p:spPr>
          <p:txBody>
            <a:bodyPr wrap="none" lIns="0" tIns="0" rIns="0" bIns="0" anchor="ctr">
              <a:noAutofit/>
            </a:bodyPr>
            <a:lstStyle>
              <a:defPPr>
                <a:defRPr sz="800" b="1">
                  <a:latin typeface="Times New Roman" panose="02020603050405020304"/>
                  <a:ea typeface="Times New Roman" panose="02020603050405020304"/>
                  <a:cs typeface="Times New Roman" panose="02020603050405020304"/>
                </a:defRPr>
              </a:defPPr>
            </a:lstStyle>
            <a:p>
              <a:pPr algn="ctr">
                <a:lnSpc>
                  <a:spcPts val="935"/>
                </a:lnSpc>
                <a:spcBef>
                  <a:spcPts val="0"/>
                </a:spcBef>
                <a:spcAft>
                  <a:spcPts val="0"/>
                </a:spcAft>
                <a:buNone/>
                <a:defRPr sz="800" b="1">
                  <a:latin typeface="Times New Roman" panose="02020603050405020304"/>
                  <a:ea typeface="Times New Roman" panose="02020603050405020304"/>
                  <a:cs typeface="Times New Roman" panose="02020603050405020304"/>
                </a:defRPr>
              </a:pPr>
              <a:r>
                <a:rPr sz="800" b="1" i="1">
                  <a:solidFill>
                    <a:srgbClr val="FFFFFF"/>
                  </a:solidFill>
                  <a:latin typeface="STIXGeneral"/>
                  <a:ea typeface="STIXGeneral"/>
                  <a:cs typeface="STIXGeneral"/>
                </a:rPr>
                <a:t>i</a:t>
              </a:r>
              <a:endParaRPr sz="800" b="1" i="1">
                <a:solidFill>
                  <a:srgbClr val="FFFFFF"/>
                </a:solidFill>
                <a:latin typeface="STIXGeneral"/>
                <a:ea typeface="STIXGeneral"/>
                <a:cs typeface="STIXGeneral"/>
              </a:endParaRPr>
            </a:p>
          </p:txBody>
        </p:sp>
        <p:sp>
          <p:nvSpPr>
            <p:cNvPr id="265" name="A_map_region_legend_045"/>
            <p:cNvSpPr txBox="1"/>
            <p:nvPr/>
          </p:nvSpPr>
          <p:spPr>
            <a:xfrm>
              <a:off x="365070" y="1798642"/>
              <a:ext cx="912676" cy="119354"/>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l">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71A35"/>
                  </a:solidFill>
                  <a:latin typeface="Times New Roman" panose="02020603050405020304"/>
                  <a:ea typeface="Times New Roman" panose="02020603050405020304"/>
                  <a:cs typeface="Times New Roman" panose="02020603050405020304"/>
                </a:rPr>
                <a:t>Candidate region</a:t>
              </a:r>
              <a:endParaRPr sz="800" b="0" i="0">
                <a:solidFill>
                  <a:srgbClr val="071A35"/>
                </a:solidFill>
                <a:latin typeface="Times New Roman" panose="02020603050405020304"/>
                <a:ea typeface="Times New Roman" panose="02020603050405020304"/>
                <a:cs typeface="Times New Roman" panose="02020603050405020304"/>
              </a:endParaRPr>
            </a:p>
          </p:txBody>
        </p:sp>
        <p:sp>
          <p:nvSpPr>
            <p:cNvPr id="266" name="A_map_region_j_046"/>
            <p:cNvSpPr/>
            <p:nvPr/>
          </p:nvSpPr>
          <p:spPr>
            <a:xfrm>
              <a:off x="173843" y="1930789"/>
              <a:ext cx="130382" cy="119952"/>
            </a:xfrm>
            <a:prstGeom prst="roundRect">
              <a:avLst>
                <a:gd name="adj" fmla="val 20833"/>
              </a:avLst>
            </a:prstGeom>
            <a:solidFill>
              <a:srgbClr val="6CA748"/>
            </a:solidFill>
            <a:ln w="12700">
              <a:noFill/>
            </a:ln>
            <a:effectLst/>
          </p:spPr>
          <p:txBody>
            <a:bodyPr rtlCol="0" anchor="ctr"/>
            <a:lstStyle/>
            <a:p>
              <a:pPr algn="ctr"/>
            </a:p>
          </p:txBody>
        </p:sp>
        <p:sp>
          <p:nvSpPr>
            <p:cNvPr id="267" name="A_map_region_label_j_047"/>
            <p:cNvSpPr txBox="1"/>
            <p:nvPr/>
          </p:nvSpPr>
          <p:spPr>
            <a:xfrm>
              <a:off x="173843" y="1932459"/>
              <a:ext cx="130382" cy="116611"/>
            </a:xfrm>
            <a:prstGeom prst="rect">
              <a:avLst/>
            </a:prstGeom>
            <a:noFill/>
            <a:effectLst/>
          </p:spPr>
          <p:txBody>
            <a:bodyPr wrap="none" lIns="0" tIns="0" rIns="0" bIns="0" anchor="ctr">
              <a:noAutofit/>
            </a:bodyPr>
            <a:lstStyle>
              <a:defPPr>
                <a:defRPr sz="800" b="1">
                  <a:latin typeface="Times New Roman" panose="02020603050405020304"/>
                  <a:ea typeface="Times New Roman" panose="02020603050405020304"/>
                  <a:cs typeface="Times New Roman" panose="02020603050405020304"/>
                </a:defRPr>
              </a:defPPr>
            </a:lstStyle>
            <a:p>
              <a:pPr algn="ctr">
                <a:lnSpc>
                  <a:spcPts val="935"/>
                </a:lnSpc>
                <a:spcBef>
                  <a:spcPts val="0"/>
                </a:spcBef>
                <a:spcAft>
                  <a:spcPts val="0"/>
                </a:spcAft>
                <a:buNone/>
                <a:defRPr sz="800" b="1">
                  <a:latin typeface="Times New Roman" panose="02020603050405020304"/>
                  <a:ea typeface="Times New Roman" panose="02020603050405020304"/>
                  <a:cs typeface="Times New Roman" panose="02020603050405020304"/>
                </a:defRPr>
              </a:pPr>
              <a:r>
                <a:rPr sz="800" b="1" i="1">
                  <a:solidFill>
                    <a:srgbClr val="FFFFFF"/>
                  </a:solidFill>
                  <a:latin typeface="STIXGeneral"/>
                  <a:ea typeface="STIXGeneral"/>
                  <a:cs typeface="STIXGeneral"/>
                </a:rPr>
                <a:t>j</a:t>
              </a:r>
              <a:endParaRPr sz="800" b="1" i="1">
                <a:solidFill>
                  <a:srgbClr val="FFFFFF"/>
                </a:solidFill>
                <a:latin typeface="STIXGeneral"/>
                <a:ea typeface="STIXGeneral"/>
                <a:cs typeface="STIXGeneral"/>
              </a:endParaRPr>
            </a:p>
          </p:txBody>
        </p:sp>
        <p:sp>
          <p:nvSpPr>
            <p:cNvPr id="268" name="A_map_region_legend_048"/>
            <p:cNvSpPr txBox="1"/>
            <p:nvPr/>
          </p:nvSpPr>
          <p:spPr>
            <a:xfrm>
              <a:off x="365070" y="1933587"/>
              <a:ext cx="912676" cy="119354"/>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l">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71A35"/>
                  </a:solidFill>
                  <a:latin typeface="Times New Roman" panose="02020603050405020304"/>
                  <a:ea typeface="Times New Roman" panose="02020603050405020304"/>
                  <a:cs typeface="Times New Roman" panose="02020603050405020304"/>
                </a:rPr>
                <a:t>Candidate region</a:t>
              </a:r>
              <a:endParaRPr sz="800" b="0" i="0">
                <a:solidFill>
                  <a:srgbClr val="071A35"/>
                </a:solidFill>
                <a:latin typeface="Times New Roman" panose="02020603050405020304"/>
                <a:ea typeface="Times New Roman" panose="02020603050405020304"/>
                <a:cs typeface="Times New Roman" panose="02020603050405020304"/>
              </a:endParaRPr>
            </a:p>
          </p:txBody>
        </p:sp>
      </p:grpSp>
      <p:sp>
        <p:nvSpPr>
          <p:cNvPr id="28" name="A_city_title"/>
          <p:cNvSpPr>
            <a:spLocks noGrp="1"/>
          </p:cNvSpPr>
          <p:nvPr/>
        </p:nvSpPr>
        <p:spPr>
          <a:xfrm>
            <a:off x="1692000" y="44310"/>
            <a:ext cx="4644000" cy="127381"/>
          </a:xfrm>
          <a:prstGeom prst="rect">
            <a:avLst/>
          </a:prstGeom>
          <a:noFill/>
          <a:ln w="0">
            <a:noFill/>
            <a:prstDash val="solid"/>
          </a:ln>
        </p:spPr>
        <p:txBody>
          <a:bodyPr wrap="none" lIns="0" tIns="0" rIns="0" bIns="0" anchor="ctr">
            <a:noAutofit/>
          </a:bodyPr>
          <a:lstStyle>
            <a:defPPr algn="l">
              <a:defRPr sz="850" b="1" i="0">
                <a:solidFill>
                  <a:srgbClr val="263746"/>
                </a:solidFill>
                <a:latin typeface="Times New Roman" panose="02020603050405020304"/>
                <a:ea typeface="Times New Roman" panose="02020603050405020304"/>
                <a:cs typeface="Times New Roman" panose="02020603050405020304"/>
              </a:defRPr>
            </a:defPPr>
          </a:lstStyle>
          <a:p>
            <a:pPr algn="l">
              <a:defRPr sz="850" b="1" i="0">
                <a:solidFill>
                  <a:srgbClr val="263746"/>
                </a:solidFill>
                <a:latin typeface="Times New Roman" panose="02020603050405020304"/>
                <a:ea typeface="Times New Roman" panose="02020603050405020304"/>
                <a:cs typeface="Times New Roman" panose="02020603050405020304"/>
              </a:defRPr>
            </a:pPr>
            <a:r>
              <a:rPr sz="850" b="1" i="0">
                <a:solidFill>
                  <a:srgbClr val="263746"/>
                </a:solidFill>
                <a:latin typeface="Times New Roman" panose="02020603050405020304"/>
                <a:ea typeface="Times New Roman" panose="02020603050405020304"/>
                <a:cs typeface="Times New Roman" panose="02020603050405020304"/>
              </a:rPr>
              <a:t>Chengdu | Grid 601 | Outflow</a:t>
            </a:r>
            <a:endParaRPr sz="850" b="1" i="0">
              <a:solidFill>
                <a:srgbClr val="263746"/>
              </a:solidFill>
              <a:latin typeface="Times New Roman" panose="02020603050405020304"/>
              <a:ea typeface="Times New Roman" panose="02020603050405020304"/>
              <a:cs typeface="Times New Roman" panose="02020603050405020304"/>
            </a:endParaRPr>
          </a:p>
        </p:txBody>
      </p:sp>
      <p:sp>
        <p:nvSpPr>
          <p:cNvPr id="29" name="A_target_sample"/>
          <p:cNvSpPr>
            <a:spLocks noGrp="1"/>
          </p:cNvSpPr>
          <p:nvPr/>
        </p:nvSpPr>
        <p:spPr>
          <a:xfrm>
            <a:off x="1692000" y="252000"/>
            <a:ext cx="180000" cy="36"/>
          </a:xfrm>
          <a:custGeom>
            <a:avLst/>
            <a:gdLst/>
            <a:ahLst/>
            <a:cxnLst/>
            <a:pathLst>
              <a:path w="180000" h="36">
                <a:moveTo>
                  <a:pt x="0" y="0"/>
                </a:moveTo>
                <a:lnTo>
                  <a:pt x="180000" y="0"/>
                </a:lnTo>
              </a:path>
            </a:pathLst>
          </a:custGeom>
          <a:noFill/>
          <a:ln w="14605">
            <a:solidFill>
              <a:srgbClr val="D55E00"/>
            </a:solidFill>
            <a:prstDash val="solid"/>
          </a:ln>
        </p:spPr>
      </p:sp>
      <p:sp>
        <p:nvSpPr>
          <p:cNvPr id="30" name="A_target_label"/>
          <p:cNvSpPr>
            <a:spLocks noGrp="1"/>
          </p:cNvSpPr>
          <p:nvPr/>
        </p:nvSpPr>
        <p:spPr>
          <a:xfrm>
            <a:off x="1922400" y="192056"/>
            <a:ext cx="1548000" cy="119888"/>
          </a:xfrm>
          <a:prstGeom prst="rect">
            <a:avLst/>
          </a:prstGeom>
          <a:noFill/>
          <a:ln w="0">
            <a:noFill/>
            <a:prstDash val="solid"/>
          </a:ln>
        </p:spPr>
        <p:txBody>
          <a:bodyPr wrap="none" lIns="0" tIns="0" rIns="0" bIns="0" anchor="ctr">
            <a:noAutofit/>
          </a:bodyPr>
          <a:lstStyle>
            <a:defPPr algn="l">
              <a:defRPr sz="800" b="0" i="0">
                <a:solidFill>
                  <a:srgbClr val="263746"/>
                </a:solidFill>
                <a:latin typeface="Times New Roman" panose="02020603050405020304"/>
                <a:ea typeface="Times New Roman" panose="02020603050405020304"/>
                <a:cs typeface="Times New Roman" panose="02020603050405020304"/>
              </a:defRPr>
            </a:defPPr>
          </a:lstStyle>
          <a:p>
            <a:pPr algn="l">
              <a:defRPr sz="800" b="0" i="0">
                <a:solidFill>
                  <a:srgbClr val="263746"/>
                </a:solidFill>
                <a:latin typeface="Times New Roman" panose="02020603050405020304"/>
                <a:ea typeface="Times New Roman" panose="02020603050405020304"/>
                <a:cs typeface="Times New Roman" panose="02020603050405020304"/>
              </a:defRPr>
            </a:pPr>
            <a:r>
              <a:rPr sz="800" b="0" i="0">
                <a:solidFill>
                  <a:srgbClr val="263746"/>
                </a:solidFill>
                <a:latin typeface="Times New Roman" panose="02020603050405020304"/>
                <a:ea typeface="Times New Roman" panose="02020603050405020304"/>
                <a:cs typeface="Times New Roman" panose="02020603050405020304"/>
              </a:rPr>
              <a:t>Observed target flow</a:t>
            </a:r>
            <a:endParaRPr sz="800" b="0" i="0">
              <a:solidFill>
                <a:srgbClr val="263746"/>
              </a:solidFill>
              <a:latin typeface="Times New Roman" panose="02020603050405020304"/>
              <a:ea typeface="Times New Roman" panose="02020603050405020304"/>
              <a:cs typeface="Times New Roman" panose="02020603050405020304"/>
            </a:endParaRPr>
          </a:p>
        </p:txBody>
      </p:sp>
      <p:sp>
        <p:nvSpPr>
          <p:cNvPr id="31" name="A_reference_sample"/>
          <p:cNvSpPr>
            <a:spLocks noGrp="1"/>
          </p:cNvSpPr>
          <p:nvPr/>
        </p:nvSpPr>
        <p:spPr>
          <a:xfrm>
            <a:off x="3456000" y="252000"/>
            <a:ext cx="180000" cy="36"/>
          </a:xfrm>
          <a:custGeom>
            <a:avLst/>
            <a:gdLst/>
            <a:ahLst/>
            <a:cxnLst/>
            <a:pathLst>
              <a:path w="180000" h="36">
                <a:moveTo>
                  <a:pt x="0" y="0"/>
                </a:moveTo>
                <a:lnTo>
                  <a:pt x="180000" y="0"/>
                </a:lnTo>
              </a:path>
            </a:pathLst>
          </a:custGeom>
          <a:noFill/>
          <a:ln w="14605">
            <a:solidFill>
              <a:srgbClr val="4F7DA8"/>
            </a:solidFill>
            <a:prstDash val="dash"/>
          </a:ln>
        </p:spPr>
      </p:sp>
      <p:sp>
        <p:nvSpPr>
          <p:cNvPr id="32" name="A_reference_label"/>
          <p:cNvSpPr>
            <a:spLocks noGrp="1"/>
          </p:cNvSpPr>
          <p:nvPr/>
        </p:nvSpPr>
        <p:spPr>
          <a:xfrm>
            <a:off x="3686400" y="192056"/>
            <a:ext cx="2628000" cy="119888"/>
          </a:xfrm>
          <a:prstGeom prst="rect">
            <a:avLst/>
          </a:prstGeom>
          <a:noFill/>
          <a:ln w="0">
            <a:noFill/>
            <a:prstDash val="solid"/>
          </a:ln>
        </p:spPr>
        <p:txBody>
          <a:bodyPr wrap="none" lIns="0" tIns="0" rIns="0" bIns="0" anchor="ctr">
            <a:noAutofit/>
          </a:bodyPr>
          <a:lstStyle>
            <a:defPPr algn="l">
              <a:defRPr sz="800" b="0" i="0">
                <a:solidFill>
                  <a:srgbClr val="263746"/>
                </a:solidFill>
                <a:latin typeface="Times New Roman" panose="02020603050405020304"/>
                <a:ea typeface="Times New Roman" panose="02020603050405020304"/>
                <a:cs typeface="Times New Roman" panose="02020603050405020304"/>
              </a:defRPr>
            </a:defPPr>
          </a:lstStyle>
          <a:p>
            <a:pPr algn="l">
              <a:defRPr sz="800" b="0" i="0">
                <a:solidFill>
                  <a:srgbClr val="263746"/>
                </a:solidFill>
                <a:latin typeface="Times New Roman" panose="02020603050405020304"/>
                <a:ea typeface="Times New Roman" panose="02020603050405020304"/>
                <a:cs typeface="Times New Roman" panose="02020603050405020304"/>
              </a:defRPr>
            </a:pPr>
            <a:r>
              <a:rPr sz="800" b="0" i="0">
                <a:solidFill>
                  <a:srgbClr val="263746"/>
                </a:solidFill>
                <a:latin typeface="Times New Roman" panose="02020603050405020304"/>
                <a:ea typeface="Times New Roman" panose="02020603050405020304"/>
                <a:cs typeface="Times New Roman" panose="02020603050405020304"/>
              </a:rPr>
              <a:t>Historical weekday reference</a:t>
            </a:r>
            <a:endParaRPr sz="800" b="0" i="0">
              <a:solidFill>
                <a:srgbClr val="263746"/>
              </a:solidFill>
              <a:latin typeface="Times New Roman" panose="02020603050405020304"/>
              <a:ea typeface="Times New Roman" panose="02020603050405020304"/>
              <a:cs typeface="Times New Roman" panose="02020603050405020304"/>
            </a:endParaRPr>
          </a:p>
        </p:txBody>
      </p:sp>
      <p:sp>
        <p:nvSpPr>
          <p:cNvPr id="33" name="A_deviation_window"/>
          <p:cNvSpPr>
            <a:spLocks noGrp="1"/>
          </p:cNvSpPr>
          <p:nvPr/>
        </p:nvSpPr>
        <p:spPr>
          <a:xfrm>
            <a:off x="5336250" y="432000"/>
            <a:ext cx="96750" cy="1080000"/>
          </a:xfrm>
          <a:prstGeom prst="rect">
            <a:avLst/>
          </a:prstGeom>
          <a:solidFill>
            <a:srgbClr val="FBECDD"/>
          </a:solidFill>
          <a:ln w="0">
            <a:noFill/>
            <a:prstDash val="solid"/>
          </a:ln>
        </p:spPr>
      </p:sp>
      <p:sp>
        <p:nvSpPr>
          <p:cNvPr id="34" name="A_ytick_0"/>
          <p:cNvSpPr>
            <a:spLocks noGrp="1"/>
          </p:cNvSpPr>
          <p:nvPr/>
        </p:nvSpPr>
        <p:spPr>
          <a:xfrm>
            <a:off x="1661400" y="151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35" name="A_ylabel_0"/>
          <p:cNvSpPr>
            <a:spLocks noGrp="1"/>
          </p:cNvSpPr>
          <p:nvPr/>
        </p:nvSpPr>
        <p:spPr>
          <a:xfrm>
            <a:off x="1461600" y="145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36" name="A_grid_5"/>
          <p:cNvSpPr>
            <a:spLocks noGrp="1"/>
          </p:cNvSpPr>
          <p:nvPr/>
        </p:nvSpPr>
        <p:spPr>
          <a:xfrm>
            <a:off x="1692000" y="1332000"/>
            <a:ext cx="4644000" cy="36"/>
          </a:xfrm>
          <a:custGeom>
            <a:avLst/>
            <a:gdLst/>
            <a:ahLst/>
            <a:cxnLst/>
            <a:pathLst>
              <a:path w="4644000" h="36">
                <a:moveTo>
                  <a:pt x="0" y="0"/>
                </a:moveTo>
                <a:lnTo>
                  <a:pt x="4644000" y="0"/>
                </a:lnTo>
              </a:path>
            </a:pathLst>
          </a:custGeom>
          <a:noFill/>
          <a:ln w="4445">
            <a:solidFill>
              <a:srgbClr val="E0E6EB"/>
            </a:solidFill>
            <a:prstDash val="solid"/>
          </a:ln>
        </p:spPr>
      </p:sp>
      <p:sp>
        <p:nvSpPr>
          <p:cNvPr id="37" name="A_ytick_5"/>
          <p:cNvSpPr>
            <a:spLocks noGrp="1"/>
          </p:cNvSpPr>
          <p:nvPr/>
        </p:nvSpPr>
        <p:spPr>
          <a:xfrm>
            <a:off x="1661400" y="133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38" name="A_ylabel_5"/>
          <p:cNvSpPr>
            <a:spLocks noGrp="1"/>
          </p:cNvSpPr>
          <p:nvPr/>
        </p:nvSpPr>
        <p:spPr>
          <a:xfrm>
            <a:off x="1461600" y="127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39" name="A_grid_10"/>
          <p:cNvSpPr>
            <a:spLocks noGrp="1"/>
          </p:cNvSpPr>
          <p:nvPr/>
        </p:nvSpPr>
        <p:spPr>
          <a:xfrm>
            <a:off x="1692000" y="1152000"/>
            <a:ext cx="4644000" cy="36"/>
          </a:xfrm>
          <a:custGeom>
            <a:avLst/>
            <a:gdLst/>
            <a:ahLst/>
            <a:cxnLst/>
            <a:pathLst>
              <a:path w="4644000" h="36">
                <a:moveTo>
                  <a:pt x="0" y="0"/>
                </a:moveTo>
                <a:lnTo>
                  <a:pt x="4644000" y="0"/>
                </a:lnTo>
              </a:path>
            </a:pathLst>
          </a:custGeom>
          <a:noFill/>
          <a:ln w="4445">
            <a:solidFill>
              <a:srgbClr val="E0E6EB"/>
            </a:solidFill>
            <a:prstDash val="solid"/>
          </a:ln>
        </p:spPr>
      </p:sp>
      <p:sp>
        <p:nvSpPr>
          <p:cNvPr id="40" name="A_ytick_10"/>
          <p:cNvSpPr>
            <a:spLocks noGrp="1"/>
          </p:cNvSpPr>
          <p:nvPr/>
        </p:nvSpPr>
        <p:spPr>
          <a:xfrm>
            <a:off x="1661400" y="115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41" name="A_ylabel_10"/>
          <p:cNvSpPr>
            <a:spLocks noGrp="1"/>
          </p:cNvSpPr>
          <p:nvPr/>
        </p:nvSpPr>
        <p:spPr>
          <a:xfrm>
            <a:off x="1461600" y="109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42" name="A_grid_15"/>
          <p:cNvSpPr>
            <a:spLocks noGrp="1"/>
          </p:cNvSpPr>
          <p:nvPr/>
        </p:nvSpPr>
        <p:spPr>
          <a:xfrm>
            <a:off x="1692000" y="972000"/>
            <a:ext cx="4644000" cy="36"/>
          </a:xfrm>
          <a:custGeom>
            <a:avLst/>
            <a:gdLst/>
            <a:ahLst/>
            <a:cxnLst/>
            <a:pathLst>
              <a:path w="4644000" h="36">
                <a:moveTo>
                  <a:pt x="0" y="0"/>
                </a:moveTo>
                <a:lnTo>
                  <a:pt x="4644000" y="0"/>
                </a:lnTo>
              </a:path>
            </a:pathLst>
          </a:custGeom>
          <a:noFill/>
          <a:ln w="4445">
            <a:solidFill>
              <a:srgbClr val="E0E6EB"/>
            </a:solidFill>
            <a:prstDash val="solid"/>
          </a:ln>
        </p:spPr>
      </p:sp>
      <p:sp>
        <p:nvSpPr>
          <p:cNvPr id="43" name="A_ytick_15"/>
          <p:cNvSpPr>
            <a:spLocks noGrp="1"/>
          </p:cNvSpPr>
          <p:nvPr/>
        </p:nvSpPr>
        <p:spPr>
          <a:xfrm>
            <a:off x="1661400" y="97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44" name="A_ylabel_15"/>
          <p:cNvSpPr>
            <a:spLocks noGrp="1"/>
          </p:cNvSpPr>
          <p:nvPr/>
        </p:nvSpPr>
        <p:spPr>
          <a:xfrm>
            <a:off x="1461600" y="91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45" name="A_grid_20"/>
          <p:cNvSpPr>
            <a:spLocks noGrp="1"/>
          </p:cNvSpPr>
          <p:nvPr/>
        </p:nvSpPr>
        <p:spPr>
          <a:xfrm>
            <a:off x="1692000" y="792000"/>
            <a:ext cx="4644000" cy="36"/>
          </a:xfrm>
          <a:custGeom>
            <a:avLst/>
            <a:gdLst/>
            <a:ahLst/>
            <a:cxnLst/>
            <a:pathLst>
              <a:path w="4644000" h="36">
                <a:moveTo>
                  <a:pt x="0" y="0"/>
                </a:moveTo>
                <a:lnTo>
                  <a:pt x="4644000" y="0"/>
                </a:lnTo>
              </a:path>
            </a:pathLst>
          </a:custGeom>
          <a:noFill/>
          <a:ln w="4445">
            <a:solidFill>
              <a:srgbClr val="E0E6EB"/>
            </a:solidFill>
            <a:prstDash val="solid"/>
          </a:ln>
        </p:spPr>
      </p:sp>
      <p:sp>
        <p:nvSpPr>
          <p:cNvPr id="46" name="A_ytick_20"/>
          <p:cNvSpPr>
            <a:spLocks noGrp="1"/>
          </p:cNvSpPr>
          <p:nvPr/>
        </p:nvSpPr>
        <p:spPr>
          <a:xfrm>
            <a:off x="1661400" y="79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47" name="A_ylabel_20"/>
          <p:cNvSpPr>
            <a:spLocks noGrp="1"/>
          </p:cNvSpPr>
          <p:nvPr/>
        </p:nvSpPr>
        <p:spPr>
          <a:xfrm>
            <a:off x="1461600" y="73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20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48" name="A_grid_25"/>
          <p:cNvSpPr>
            <a:spLocks noGrp="1"/>
          </p:cNvSpPr>
          <p:nvPr/>
        </p:nvSpPr>
        <p:spPr>
          <a:xfrm>
            <a:off x="1692000" y="612000"/>
            <a:ext cx="4644000" cy="36"/>
          </a:xfrm>
          <a:custGeom>
            <a:avLst/>
            <a:gdLst/>
            <a:ahLst/>
            <a:cxnLst/>
            <a:pathLst>
              <a:path w="4644000" h="36">
                <a:moveTo>
                  <a:pt x="0" y="0"/>
                </a:moveTo>
                <a:lnTo>
                  <a:pt x="4644000" y="0"/>
                </a:lnTo>
              </a:path>
            </a:pathLst>
          </a:custGeom>
          <a:noFill/>
          <a:ln w="4445">
            <a:solidFill>
              <a:srgbClr val="E0E6EB"/>
            </a:solidFill>
            <a:prstDash val="solid"/>
          </a:ln>
        </p:spPr>
      </p:sp>
      <p:sp>
        <p:nvSpPr>
          <p:cNvPr id="49" name="A_ytick_25"/>
          <p:cNvSpPr>
            <a:spLocks noGrp="1"/>
          </p:cNvSpPr>
          <p:nvPr/>
        </p:nvSpPr>
        <p:spPr>
          <a:xfrm>
            <a:off x="1661400" y="61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50" name="A_ylabel_25"/>
          <p:cNvSpPr>
            <a:spLocks noGrp="1"/>
          </p:cNvSpPr>
          <p:nvPr/>
        </p:nvSpPr>
        <p:spPr>
          <a:xfrm>
            <a:off x="1461600" y="55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25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51" name="A_grid_30"/>
          <p:cNvSpPr>
            <a:spLocks noGrp="1"/>
          </p:cNvSpPr>
          <p:nvPr/>
        </p:nvSpPr>
        <p:spPr>
          <a:xfrm>
            <a:off x="1692000" y="432000"/>
            <a:ext cx="4644000" cy="36"/>
          </a:xfrm>
          <a:custGeom>
            <a:avLst/>
            <a:gdLst/>
            <a:ahLst/>
            <a:cxnLst/>
            <a:pathLst>
              <a:path w="4644000" h="36">
                <a:moveTo>
                  <a:pt x="0" y="0"/>
                </a:moveTo>
                <a:lnTo>
                  <a:pt x="4644000" y="0"/>
                </a:lnTo>
              </a:path>
            </a:pathLst>
          </a:custGeom>
          <a:noFill/>
          <a:ln w="4445">
            <a:solidFill>
              <a:srgbClr val="E0E6EB"/>
            </a:solidFill>
            <a:prstDash val="solid"/>
          </a:ln>
        </p:spPr>
      </p:sp>
      <p:sp>
        <p:nvSpPr>
          <p:cNvPr id="52" name="A_ytick_30"/>
          <p:cNvSpPr>
            <a:spLocks noGrp="1"/>
          </p:cNvSpPr>
          <p:nvPr/>
        </p:nvSpPr>
        <p:spPr>
          <a:xfrm>
            <a:off x="1661400" y="43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53" name="A_ylabel_30"/>
          <p:cNvSpPr>
            <a:spLocks noGrp="1"/>
          </p:cNvSpPr>
          <p:nvPr/>
        </p:nvSpPr>
        <p:spPr>
          <a:xfrm>
            <a:off x="1461600" y="37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54" name="A_yaxis"/>
          <p:cNvSpPr>
            <a:spLocks noGrp="1"/>
          </p:cNvSpPr>
          <p:nvPr/>
        </p:nvSpPr>
        <p:spPr>
          <a:xfrm>
            <a:off x="1692000" y="432000"/>
            <a:ext cx="36" cy="1080000"/>
          </a:xfrm>
          <a:custGeom>
            <a:avLst/>
            <a:gdLst/>
            <a:ahLst/>
            <a:cxnLst/>
            <a:pathLst>
              <a:path w="36" h="1080000">
                <a:moveTo>
                  <a:pt x="0" y="0"/>
                </a:moveTo>
                <a:lnTo>
                  <a:pt x="0" y="1080000"/>
                </a:lnTo>
              </a:path>
            </a:pathLst>
          </a:custGeom>
          <a:noFill/>
          <a:ln w="8890">
            <a:solidFill>
              <a:srgbClr val="263746"/>
            </a:solidFill>
            <a:prstDash val="solid"/>
          </a:ln>
        </p:spPr>
      </p:sp>
      <p:sp>
        <p:nvSpPr>
          <p:cNvPr id="55" name="A_xaxis"/>
          <p:cNvSpPr>
            <a:spLocks noGrp="1"/>
          </p:cNvSpPr>
          <p:nvPr/>
        </p:nvSpPr>
        <p:spPr>
          <a:xfrm>
            <a:off x="1692000" y="1512000"/>
            <a:ext cx="4644000" cy="36"/>
          </a:xfrm>
          <a:custGeom>
            <a:avLst/>
            <a:gdLst/>
            <a:ahLst/>
            <a:cxnLst/>
            <a:pathLst>
              <a:path w="4644000" h="36">
                <a:moveTo>
                  <a:pt x="0" y="0"/>
                </a:moveTo>
                <a:lnTo>
                  <a:pt x="4644000" y="0"/>
                </a:lnTo>
              </a:path>
            </a:pathLst>
          </a:custGeom>
          <a:noFill/>
          <a:ln w="8890">
            <a:solidFill>
              <a:srgbClr val="263746"/>
            </a:solidFill>
            <a:prstDash val="solid"/>
          </a:ln>
        </p:spPr>
      </p:sp>
      <p:sp>
        <p:nvSpPr>
          <p:cNvPr id="56" name="A_xtick_0"/>
          <p:cNvSpPr>
            <a:spLocks noGrp="1"/>
          </p:cNvSpPr>
          <p:nvPr/>
        </p:nvSpPr>
        <p:spPr>
          <a:xfrm>
            <a:off x="1692000" y="15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57" name="A_xlabel_0"/>
          <p:cNvSpPr>
            <a:spLocks noGrp="1"/>
          </p:cNvSpPr>
          <p:nvPr/>
        </p:nvSpPr>
        <p:spPr>
          <a:xfrm>
            <a:off x="1548000" y="1549549"/>
            <a:ext cx="288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Nov 22</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58" name="A_xtick_1"/>
          <p:cNvSpPr>
            <a:spLocks noGrp="1"/>
          </p:cNvSpPr>
          <p:nvPr/>
        </p:nvSpPr>
        <p:spPr>
          <a:xfrm>
            <a:off x="3240000" y="15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59" name="A_xlabel_1"/>
          <p:cNvSpPr>
            <a:spLocks noGrp="1"/>
          </p:cNvSpPr>
          <p:nvPr/>
        </p:nvSpPr>
        <p:spPr>
          <a:xfrm>
            <a:off x="3096000" y="1549549"/>
            <a:ext cx="288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Nov 23</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60" name="A_xtick_2"/>
          <p:cNvSpPr>
            <a:spLocks noGrp="1"/>
          </p:cNvSpPr>
          <p:nvPr/>
        </p:nvSpPr>
        <p:spPr>
          <a:xfrm>
            <a:off x="4788000" y="15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61" name="A_xlabel_2"/>
          <p:cNvSpPr>
            <a:spLocks noGrp="1"/>
          </p:cNvSpPr>
          <p:nvPr/>
        </p:nvSpPr>
        <p:spPr>
          <a:xfrm>
            <a:off x="4644000" y="1549549"/>
            <a:ext cx="288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Nov 24</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62" name="A_xtick_3"/>
          <p:cNvSpPr>
            <a:spLocks noGrp="1"/>
          </p:cNvSpPr>
          <p:nvPr/>
        </p:nvSpPr>
        <p:spPr>
          <a:xfrm>
            <a:off x="6336000" y="15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63" name="A_xlabel_3"/>
          <p:cNvSpPr>
            <a:spLocks noGrp="1"/>
          </p:cNvSpPr>
          <p:nvPr/>
        </p:nvSpPr>
        <p:spPr>
          <a:xfrm>
            <a:off x="6192000" y="1549549"/>
            <a:ext cx="288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Nov 25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64" name="A_day_boundary_24"/>
          <p:cNvSpPr>
            <a:spLocks noGrp="1"/>
          </p:cNvSpPr>
          <p:nvPr/>
        </p:nvSpPr>
        <p:spPr>
          <a:xfrm>
            <a:off x="3240000" y="432000"/>
            <a:ext cx="36" cy="1080000"/>
          </a:xfrm>
          <a:custGeom>
            <a:avLst/>
            <a:gdLst/>
            <a:ahLst/>
            <a:cxnLst/>
            <a:pathLst>
              <a:path w="36" h="1080000">
                <a:moveTo>
                  <a:pt x="0" y="0"/>
                </a:moveTo>
                <a:lnTo>
                  <a:pt x="0" y="1080000"/>
                </a:lnTo>
              </a:path>
            </a:pathLst>
          </a:custGeom>
          <a:noFill/>
          <a:ln w="5080">
            <a:solidFill>
              <a:srgbClr val="E0E6EB"/>
            </a:solidFill>
            <a:prstDash val="dash"/>
          </a:ln>
        </p:spPr>
      </p:sp>
      <p:sp>
        <p:nvSpPr>
          <p:cNvPr id="65" name="A_day_boundary_48"/>
          <p:cNvSpPr>
            <a:spLocks noGrp="1"/>
          </p:cNvSpPr>
          <p:nvPr/>
        </p:nvSpPr>
        <p:spPr>
          <a:xfrm>
            <a:off x="4788000" y="432000"/>
            <a:ext cx="36" cy="1080000"/>
          </a:xfrm>
          <a:custGeom>
            <a:avLst/>
            <a:gdLst/>
            <a:ahLst/>
            <a:cxnLst/>
            <a:pathLst>
              <a:path w="36" h="1080000">
                <a:moveTo>
                  <a:pt x="0" y="0"/>
                </a:moveTo>
                <a:lnTo>
                  <a:pt x="0" y="1080000"/>
                </a:lnTo>
              </a:path>
            </a:pathLst>
          </a:custGeom>
          <a:noFill/>
          <a:ln w="5080">
            <a:solidFill>
              <a:srgbClr val="E0E6EB"/>
            </a:solidFill>
            <a:prstDash val="dash"/>
          </a:ln>
        </p:spPr>
      </p:sp>
      <p:graphicFrame>
        <p:nvGraphicFramePr>
          <p:cNvPr id="66" name="Chart"/>
          <p:cNvGraphicFramePr/>
          <p:nvPr/>
        </p:nvGraphicFramePr>
        <p:xfrm>
          <a:off x="1692000" y="432000"/>
          <a:ext cx="4644000" cy="1080000"/>
        </p:xfrm>
        <a:graphic>
          <a:graphicData uri="http://schemas.openxmlformats.org/drawingml/2006/chart">
            <c:chart xmlns:c="http://schemas.openxmlformats.org/drawingml/2006/chart" xmlns:r="http://schemas.openxmlformats.org/officeDocument/2006/relationships" r:id="rId1"/>
          </a:graphicData>
        </a:graphic>
      </p:graphicFrame>
      <p:sp>
        <p:nvSpPr>
          <p:cNvPr id="67" name="A_vertical_unit"/>
          <p:cNvSpPr>
            <a:spLocks noGrp="1"/>
          </p:cNvSpPr>
          <p:nvPr/>
        </p:nvSpPr>
        <p:spPr>
          <a:xfrm>
            <a:off x="1375200" y="324000"/>
            <a:ext cx="122400" cy="1296000"/>
          </a:xfrm>
          <a:prstGeom prst="rect">
            <a:avLst/>
          </a:prstGeom>
          <a:noFill/>
          <a:ln w="0">
            <a:noFill/>
            <a:prstDash val="solid"/>
          </a:ln>
        </p:spPr>
        <p:txBody>
          <a:bodyPr vert="vert270" wrap="none" lIns="0" tIns="0" rIns="0" bIns="0" anchor="ctr">
            <a:noAutofit/>
          </a:bodyPr>
          <a:lstStyle>
            <a:defPPr algn="ctr">
              <a:defRPr sz="800" b="0" i="0">
                <a:solidFill>
                  <a:srgbClr val="263746"/>
                </a:solidFill>
                <a:latin typeface="Times New Roman" panose="02020603050405020304"/>
                <a:ea typeface="Times New Roman" panose="02020603050405020304"/>
                <a:cs typeface="Times New Roman" panose="02020603050405020304"/>
              </a:defRPr>
            </a:defPPr>
          </a:lstStyle>
          <a:p>
            <a:pPr algn="ctr">
              <a:defRPr sz="800" b="0" i="0">
                <a:solidFill>
                  <a:srgbClr val="263746"/>
                </a:solidFill>
                <a:latin typeface="Times New Roman" panose="02020603050405020304"/>
                <a:ea typeface="Times New Roman" panose="02020603050405020304"/>
                <a:cs typeface="Times New Roman" panose="02020603050405020304"/>
              </a:defRPr>
            </a:pPr>
            <a:r>
              <a:rPr sz="800" b="0" i="0">
                <a:solidFill>
                  <a:srgbClr val="263746"/>
                </a:solidFill>
                <a:latin typeface="Times New Roman" panose="02020603050405020304"/>
                <a:ea typeface="Times New Roman" panose="02020603050405020304"/>
                <a:cs typeface="Times New Roman" panose="02020603050405020304"/>
              </a:rPr>
              <a:t>Departures / 30 min</a:t>
            </a:r>
            <a:endParaRPr sz="800" b="0" i="0">
              <a:solidFill>
                <a:srgbClr val="263746"/>
              </a:solidFill>
              <a:latin typeface="Times New Roman" panose="02020603050405020304"/>
              <a:ea typeface="Times New Roman" panose="02020603050405020304"/>
              <a:cs typeface="Times New Roman" panose="02020603050405020304"/>
            </a:endParaRPr>
          </a:p>
        </p:txBody>
      </p:sp>
      <p:sp>
        <p:nvSpPr>
          <p:cNvPr id="68" name="A_deviation_amount"/>
          <p:cNvSpPr>
            <a:spLocks noGrp="1"/>
          </p:cNvSpPr>
          <p:nvPr/>
        </p:nvSpPr>
        <p:spPr>
          <a:xfrm>
            <a:off x="4730850" y="462056"/>
            <a:ext cx="540000" cy="119888"/>
          </a:xfrm>
          <a:prstGeom prst="rect">
            <a:avLst/>
          </a:prstGeom>
          <a:noFill/>
          <a:ln w="0">
            <a:noFill/>
            <a:prstDash val="solid"/>
          </a:ln>
        </p:spPr>
        <p:txBody>
          <a:bodyPr wrap="none" lIns="0" tIns="0" rIns="0" bIns="0" anchor="ctr">
            <a:noAutofit/>
          </a:bodyPr>
          <a:lstStyle>
            <a:defPPr algn="ctr">
              <a:defRPr sz="800" b="1" i="0">
                <a:solidFill>
                  <a:srgbClr val="D55E00"/>
                </a:solidFill>
                <a:latin typeface="Times New Roman" panose="02020603050405020304"/>
                <a:ea typeface="Times New Roman" panose="02020603050405020304"/>
                <a:cs typeface="Times New Roman" panose="02020603050405020304"/>
              </a:defRPr>
            </a:defPPr>
          </a:lstStyle>
          <a:p>
            <a:pPr algn="ctr">
              <a:defRPr sz="800" b="1" i="0">
                <a:solidFill>
                  <a:srgbClr val="D55E00"/>
                </a:solidFill>
                <a:latin typeface="Times New Roman" panose="02020603050405020304"/>
                <a:ea typeface="Times New Roman" panose="02020603050405020304"/>
                <a:cs typeface="Times New Roman" panose="02020603050405020304"/>
              </a:defRPr>
            </a:pPr>
            <a:r>
              <a:rPr sz="800" b="1" i="0">
                <a:solidFill>
                  <a:srgbClr val="D55E00"/>
                </a:solidFill>
                <a:latin typeface="Times New Roman" panose="02020603050405020304"/>
                <a:ea typeface="Times New Roman" panose="02020603050405020304"/>
                <a:cs typeface="Times New Roman" panose="02020603050405020304"/>
              </a:rPr>
              <a:t>+33.3%</a:t>
            </a:r>
            <a:endParaRPr sz="800" b="1" i="0">
              <a:solidFill>
                <a:srgbClr val="D55E00"/>
              </a:solidFill>
              <a:latin typeface="Times New Roman" panose="02020603050405020304"/>
              <a:ea typeface="Times New Roman" panose="02020603050405020304"/>
              <a:cs typeface="Times New Roman" panose="02020603050405020304"/>
            </a:endParaRPr>
          </a:p>
        </p:txBody>
      </p:sp>
      <p:sp>
        <p:nvSpPr>
          <p:cNvPr id="69" name="A_deviation_leader"/>
          <p:cNvSpPr>
            <a:spLocks noGrp="1"/>
          </p:cNvSpPr>
          <p:nvPr/>
        </p:nvSpPr>
        <p:spPr>
          <a:xfrm>
            <a:off x="5187900" y="576000"/>
            <a:ext cx="154800" cy="36000"/>
          </a:xfrm>
          <a:custGeom>
            <a:avLst/>
            <a:gdLst/>
            <a:ahLst/>
            <a:cxnLst/>
            <a:pathLst>
              <a:path w="154800" h="36000">
                <a:moveTo>
                  <a:pt x="0" y="0"/>
                </a:moveTo>
                <a:lnTo>
                  <a:pt x="154800" y="36000"/>
                </a:lnTo>
              </a:path>
            </a:pathLst>
          </a:custGeom>
          <a:noFill/>
          <a:ln w="9525">
            <a:solidFill>
              <a:srgbClr val="D55E00"/>
            </a:solidFill>
            <a:prstDash val="solid"/>
          </a:ln>
        </p:spPr>
      </p:sp>
      <p:sp>
        <p:nvSpPr>
          <p:cNvPr id="70" name="A_time_label"/>
          <p:cNvSpPr>
            <a:spLocks noGrp="1"/>
          </p:cNvSpPr>
          <p:nvPr/>
        </p:nvSpPr>
        <p:spPr>
          <a:xfrm>
            <a:off x="1692000" y="1707802"/>
            <a:ext cx="4644000" cy="112395"/>
          </a:xfrm>
          <a:prstGeom prst="rect">
            <a:avLst/>
          </a:prstGeom>
          <a:noFill/>
          <a:ln w="0">
            <a:noFill/>
            <a:prstDash val="solid"/>
          </a:ln>
        </p:spPr>
        <p:txBody>
          <a:bodyPr wrap="none" lIns="0" tIns="0" rIns="0" bIns="0" anchor="ctr">
            <a:noAutofit/>
          </a:bodyPr>
          <a:lstStyle>
            <a:defPPr algn="ctr">
              <a:defRPr sz="750" b="0" i="0">
                <a:solidFill>
                  <a:srgbClr val="657580"/>
                </a:solidFill>
                <a:latin typeface="Times New Roman" panose="02020603050405020304"/>
                <a:ea typeface="Times New Roman" panose="02020603050405020304"/>
                <a:cs typeface="Times New Roman" panose="02020603050405020304"/>
              </a:defRPr>
            </a:defPPr>
          </a:lstStyle>
          <a:p>
            <a:pPr algn="ctr">
              <a:defRPr sz="750" b="0" i="0">
                <a:solidFill>
                  <a:srgbClr val="657580"/>
                </a:solidFill>
                <a:latin typeface="Times New Roman" panose="02020603050405020304"/>
                <a:ea typeface="Times New Roman" panose="02020603050405020304"/>
                <a:cs typeface="Times New Roman" panose="02020603050405020304"/>
              </a:defRPr>
            </a:pPr>
            <a:r>
              <a:rPr sz="750" b="0" i="0">
                <a:solidFill>
                  <a:srgbClr val="657580"/>
                </a:solidFill>
                <a:latin typeface="Times New Roman" panose="02020603050405020304"/>
                <a:ea typeface="Times New Roman" panose="02020603050405020304"/>
                <a:cs typeface="Times New Roman" panose="02020603050405020304"/>
              </a:rPr>
              <a:t>Local time (UTC+8), November 2016</a:t>
            </a:r>
            <a:endParaRPr sz="750" b="0" i="0">
              <a:solidFill>
                <a:srgbClr val="657580"/>
              </a:solidFill>
              <a:latin typeface="Times New Roman" panose="02020603050405020304"/>
              <a:ea typeface="Times New Roman" panose="02020603050405020304"/>
              <a:cs typeface="Times New Roman" panose="02020603050405020304"/>
            </a:endParaRPr>
          </a:p>
        </p:txBody>
      </p:sp>
      <p:sp>
        <p:nvSpPr>
          <p:cNvPr id="71" name="A_panel_caption"/>
          <p:cNvSpPr>
            <a:spLocks noGrp="1"/>
          </p:cNvSpPr>
          <p:nvPr/>
        </p:nvSpPr>
        <p:spPr>
          <a:xfrm>
            <a:off x="36000" y="1876563"/>
            <a:ext cx="6408000" cy="134874"/>
          </a:xfrm>
          <a:prstGeom prst="rect">
            <a:avLst/>
          </a:prstGeom>
          <a:noFill/>
          <a:ln w="0">
            <a:noFill/>
            <a:prstDash val="solid"/>
          </a:ln>
        </p:spPr>
        <p:txBody>
          <a:bodyPr wrap="none" lIns="0" tIns="0" rIns="0" bIns="0" anchor="ctr">
            <a:noAutofit/>
          </a:bodyPr>
          <a:lstStyle>
            <a:defPPr algn="ctr">
              <a:defRPr sz="900" b="1" i="0">
                <a:solidFill>
                  <a:srgbClr val="263746"/>
                </a:solidFill>
                <a:latin typeface="Times New Roman" panose="02020603050405020304"/>
                <a:ea typeface="Times New Roman" panose="02020603050405020304"/>
                <a:cs typeface="Times New Roman" panose="02020603050405020304"/>
              </a:defRPr>
            </a:defPPr>
          </a:lstStyle>
          <a:p>
            <a:pPr algn="ctr">
              <a:defRPr sz="900" b="1" i="0">
                <a:solidFill>
                  <a:srgbClr val="263746"/>
                </a:solidFill>
                <a:latin typeface="Times New Roman" panose="02020603050405020304"/>
                <a:ea typeface="Times New Roman" panose="02020603050405020304"/>
                <a:cs typeface="Times New Roman" panose="02020603050405020304"/>
              </a:defRPr>
            </a:pPr>
            <a:r>
              <a:rPr sz="900" b="1" i="0">
                <a:solidFill>
                  <a:srgbClr val="263746"/>
                </a:solidFill>
                <a:latin typeface="Times New Roman" panose="02020603050405020304"/>
                <a:ea typeface="Times New Roman" panose="02020603050405020304"/>
                <a:cs typeface="Times New Roman" panose="02020603050405020304"/>
              </a:rPr>
              <a:t>(a) Deviation from the usual pattern</a:t>
            </a:r>
            <a:endParaRPr sz="900" b="1" i="0">
              <a:solidFill>
                <a:srgbClr val="263746"/>
              </a:solidFill>
              <a:latin typeface="Times New Roman" panose="02020603050405020304"/>
              <a:ea typeface="Times New Roman" panose="02020603050405020304"/>
              <a:cs typeface="Times New Roman" panose="02020603050405020304"/>
            </a:endParaRPr>
          </a:p>
        </p:txBody>
      </p:sp>
      <p:sp>
        <p:nvSpPr>
          <p:cNvPr id="72" name="B_self_title"/>
          <p:cNvSpPr>
            <a:spLocks noGrp="1"/>
          </p:cNvSpPr>
          <p:nvPr/>
        </p:nvSpPr>
        <p:spPr>
          <a:xfrm>
            <a:off x="432000" y="2064056"/>
            <a:ext cx="2592000" cy="119888"/>
          </a:xfrm>
          <a:prstGeom prst="rect">
            <a:avLst/>
          </a:prstGeom>
          <a:noFill/>
          <a:ln w="0">
            <a:noFill/>
            <a:prstDash val="solid"/>
          </a:ln>
        </p:spPr>
        <p:txBody>
          <a:bodyPr wrap="none" lIns="0" tIns="0" rIns="0" bIns="0" anchor="ctr">
            <a:noAutofit/>
          </a:bodyPr>
          <a:lstStyle>
            <a:defPPr algn="l">
              <a:defRPr sz="800" b="1" i="0">
                <a:solidFill>
                  <a:srgbClr val="263746"/>
                </a:solidFill>
                <a:latin typeface="Times New Roman" panose="02020603050405020304"/>
                <a:ea typeface="Times New Roman" panose="02020603050405020304"/>
                <a:cs typeface="Times New Roman" panose="02020603050405020304"/>
              </a:defRPr>
            </a:defPPr>
          </a:lstStyle>
          <a:p>
            <a:pPr algn="l">
              <a:defRPr sz="800" b="1" i="0">
                <a:solidFill>
                  <a:srgbClr val="263746"/>
                </a:solidFill>
                <a:latin typeface="Times New Roman" panose="02020603050405020304"/>
                <a:ea typeface="Times New Roman" panose="02020603050405020304"/>
                <a:cs typeface="Times New Roman" panose="02020603050405020304"/>
              </a:defRPr>
            </a:pPr>
            <a:r>
              <a:rPr sz="800" b="1" i="0">
                <a:solidFill>
                  <a:srgbClr val="263746"/>
                </a:solidFill>
                <a:latin typeface="Times New Roman" panose="02020603050405020304"/>
                <a:ea typeface="Times New Roman" panose="02020603050405020304"/>
                <a:cs typeface="Times New Roman" panose="02020603050405020304"/>
              </a:rPr>
              <a:t>Same-region history</a:t>
            </a:r>
            <a:endParaRPr sz="800" b="1" i="0">
              <a:solidFill>
                <a:srgbClr val="263746"/>
              </a:solidFill>
              <a:latin typeface="Times New Roman" panose="02020603050405020304"/>
              <a:ea typeface="Times New Roman" panose="02020603050405020304"/>
              <a:cs typeface="Times New Roman" panose="02020603050405020304"/>
            </a:endParaRPr>
          </a:p>
        </p:txBody>
      </p:sp>
      <p:sp>
        <p:nvSpPr>
          <p:cNvPr id="73" name="B_self_metadata"/>
          <p:cNvSpPr>
            <a:spLocks noGrp="1"/>
          </p:cNvSpPr>
          <p:nvPr/>
        </p:nvSpPr>
        <p:spPr>
          <a:xfrm>
            <a:off x="432000" y="2215549"/>
            <a:ext cx="2664000" cy="104902"/>
          </a:xfrm>
          <a:prstGeom prst="rect">
            <a:avLst/>
          </a:prstGeom>
          <a:noFill/>
          <a:ln w="0">
            <a:noFill/>
            <a:prstDash val="solid"/>
          </a:ln>
        </p:spPr>
        <p:txBody>
          <a:bodyPr wrap="none" lIns="0" tIns="0" rIns="0" bIns="0" anchor="ctr">
            <a:noAutofit/>
          </a:bodyPr>
          <a:lstStyle>
            <a:defPPr algn="l">
              <a:defRPr sz="700" b="0" i="0">
                <a:solidFill>
                  <a:srgbClr val="657580"/>
                </a:solidFill>
                <a:latin typeface="Times New Roman" panose="02020603050405020304"/>
                <a:ea typeface="Times New Roman" panose="02020603050405020304"/>
                <a:cs typeface="Times New Roman" panose="02020603050405020304"/>
              </a:defRPr>
            </a:defPPr>
          </a:lstStyle>
          <a:p>
            <a:pPr algn="l">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Grid 601 | Nov 24 vs. Nov 18, 08:30–11:30</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74" name="B_self_target_sample"/>
          <p:cNvSpPr>
            <a:spLocks noGrp="1"/>
          </p:cNvSpPr>
          <p:nvPr/>
        </p:nvSpPr>
        <p:spPr>
          <a:xfrm>
            <a:off x="432000" y="2412000"/>
            <a:ext cx="180000" cy="36"/>
          </a:xfrm>
          <a:custGeom>
            <a:avLst/>
            <a:gdLst/>
            <a:ahLst/>
            <a:cxnLst/>
            <a:pathLst>
              <a:path w="180000" h="36">
                <a:moveTo>
                  <a:pt x="0" y="0"/>
                </a:moveTo>
                <a:lnTo>
                  <a:pt x="180000" y="0"/>
                </a:lnTo>
              </a:path>
            </a:pathLst>
          </a:custGeom>
          <a:noFill/>
          <a:ln w="14605">
            <a:solidFill>
              <a:srgbClr val="D55E00"/>
            </a:solidFill>
            <a:prstDash val="solid"/>
          </a:ln>
        </p:spPr>
      </p:sp>
      <p:sp>
        <p:nvSpPr>
          <p:cNvPr id="75" name="B_self_target_label"/>
          <p:cNvSpPr>
            <a:spLocks noGrp="1"/>
          </p:cNvSpPr>
          <p:nvPr/>
        </p:nvSpPr>
        <p:spPr>
          <a:xfrm>
            <a:off x="662400" y="2355803"/>
            <a:ext cx="1044000" cy="112395"/>
          </a:xfrm>
          <a:prstGeom prst="rect">
            <a:avLst/>
          </a:prstGeom>
          <a:noFill/>
          <a:ln w="0">
            <a:noFill/>
            <a:prstDash val="solid"/>
          </a:ln>
        </p:spPr>
        <p:txBody>
          <a:bodyPr wrap="none" lIns="0" tIns="0" rIns="0" bIns="0" anchor="ctr">
            <a:noAutofit/>
          </a:bodyPr>
          <a:lstStyle>
            <a:defPPr algn="l">
              <a:defRPr sz="750" b="0" i="0">
                <a:solidFill>
                  <a:srgbClr val="263746"/>
                </a:solidFill>
                <a:latin typeface="Times New Roman" panose="02020603050405020304"/>
                <a:ea typeface="Times New Roman" panose="02020603050405020304"/>
                <a:cs typeface="Times New Roman" panose="02020603050405020304"/>
              </a:defRPr>
            </a:defPPr>
          </a:lstStyle>
          <a:p>
            <a:pPr algn="l">
              <a:defRPr sz="750" b="0" i="0">
                <a:solidFill>
                  <a:srgbClr val="263746"/>
                </a:solidFill>
                <a:latin typeface="Times New Roman" panose="02020603050405020304"/>
                <a:ea typeface="Times New Roman" panose="02020603050405020304"/>
                <a:cs typeface="Times New Roman" panose="02020603050405020304"/>
              </a:defRPr>
            </a:pPr>
            <a:r>
              <a:rPr sz="750" b="0" i="0">
                <a:solidFill>
                  <a:srgbClr val="263746"/>
                </a:solidFill>
                <a:latin typeface="Times New Roman" panose="02020603050405020304"/>
                <a:ea typeface="Times New Roman" panose="02020603050405020304"/>
                <a:cs typeface="Times New Roman" panose="02020603050405020304"/>
              </a:rPr>
              <a:t>Nov 24 target</a:t>
            </a:r>
            <a:endParaRPr sz="750" b="0" i="0">
              <a:solidFill>
                <a:srgbClr val="263746"/>
              </a:solidFill>
              <a:latin typeface="Times New Roman" panose="02020603050405020304"/>
              <a:ea typeface="Times New Roman" panose="02020603050405020304"/>
              <a:cs typeface="Times New Roman" panose="02020603050405020304"/>
            </a:endParaRPr>
          </a:p>
        </p:txBody>
      </p:sp>
      <p:sp>
        <p:nvSpPr>
          <p:cNvPr id="76" name="B_self_history_sample"/>
          <p:cNvSpPr>
            <a:spLocks noGrp="1"/>
          </p:cNvSpPr>
          <p:nvPr/>
        </p:nvSpPr>
        <p:spPr>
          <a:xfrm>
            <a:off x="1728000" y="2412000"/>
            <a:ext cx="180000" cy="36"/>
          </a:xfrm>
          <a:custGeom>
            <a:avLst/>
            <a:gdLst/>
            <a:ahLst/>
            <a:cxnLst/>
            <a:pathLst>
              <a:path w="180000" h="36">
                <a:moveTo>
                  <a:pt x="0" y="0"/>
                </a:moveTo>
                <a:lnTo>
                  <a:pt x="180000" y="0"/>
                </a:lnTo>
              </a:path>
            </a:pathLst>
          </a:custGeom>
          <a:noFill/>
          <a:ln w="14605">
            <a:solidFill>
              <a:srgbClr val="4F7DA8"/>
            </a:solidFill>
            <a:prstDash val="dash"/>
          </a:ln>
        </p:spPr>
      </p:sp>
      <p:sp>
        <p:nvSpPr>
          <p:cNvPr id="77" name="B_self_history_label"/>
          <p:cNvSpPr>
            <a:spLocks noGrp="1"/>
          </p:cNvSpPr>
          <p:nvPr/>
        </p:nvSpPr>
        <p:spPr>
          <a:xfrm>
            <a:off x="1958400" y="2355803"/>
            <a:ext cx="1152000" cy="112395"/>
          </a:xfrm>
          <a:prstGeom prst="rect">
            <a:avLst/>
          </a:prstGeom>
          <a:noFill/>
          <a:ln w="0">
            <a:noFill/>
            <a:prstDash val="solid"/>
          </a:ln>
        </p:spPr>
        <p:txBody>
          <a:bodyPr wrap="none" lIns="0" tIns="0" rIns="0" bIns="0" anchor="ctr">
            <a:noAutofit/>
          </a:bodyPr>
          <a:lstStyle>
            <a:defPPr algn="l">
              <a:defRPr sz="750" b="0" i="0">
                <a:solidFill>
                  <a:srgbClr val="263746"/>
                </a:solidFill>
                <a:latin typeface="Times New Roman" panose="02020603050405020304"/>
                <a:ea typeface="Times New Roman" panose="02020603050405020304"/>
                <a:cs typeface="Times New Roman" panose="02020603050405020304"/>
              </a:defRPr>
            </a:defPPr>
          </a:lstStyle>
          <a:p>
            <a:pPr algn="l">
              <a:defRPr sz="750" b="0" i="0">
                <a:solidFill>
                  <a:srgbClr val="263746"/>
                </a:solidFill>
                <a:latin typeface="Times New Roman" panose="02020603050405020304"/>
                <a:ea typeface="Times New Roman" panose="02020603050405020304"/>
                <a:cs typeface="Times New Roman" panose="02020603050405020304"/>
              </a:defRPr>
            </a:pPr>
            <a:r>
              <a:rPr sz="750" b="0" i="0">
                <a:solidFill>
                  <a:srgbClr val="263746"/>
                </a:solidFill>
                <a:latin typeface="Times New Roman" panose="02020603050405020304"/>
                <a:ea typeface="Times New Roman" panose="02020603050405020304"/>
                <a:cs typeface="Times New Roman" panose="02020603050405020304"/>
              </a:rPr>
              <a:t>Nov 18 history</a:t>
            </a:r>
            <a:endParaRPr sz="750" b="0" i="0">
              <a:solidFill>
                <a:srgbClr val="263746"/>
              </a:solidFill>
              <a:latin typeface="Times New Roman" panose="02020603050405020304"/>
              <a:ea typeface="Times New Roman" panose="02020603050405020304"/>
              <a:cs typeface="Times New Roman" panose="02020603050405020304"/>
            </a:endParaRPr>
          </a:p>
        </p:txBody>
      </p:sp>
      <p:sp>
        <p:nvSpPr>
          <p:cNvPr id="78" name="B_cross_title"/>
          <p:cNvSpPr>
            <a:spLocks noGrp="1"/>
          </p:cNvSpPr>
          <p:nvPr/>
        </p:nvSpPr>
        <p:spPr>
          <a:xfrm>
            <a:off x="432000" y="3720056"/>
            <a:ext cx="2592000" cy="119888"/>
          </a:xfrm>
          <a:prstGeom prst="rect">
            <a:avLst/>
          </a:prstGeom>
          <a:noFill/>
          <a:ln w="0">
            <a:noFill/>
            <a:prstDash val="solid"/>
          </a:ln>
        </p:spPr>
        <p:txBody>
          <a:bodyPr wrap="none" lIns="0" tIns="0" rIns="0" bIns="0" anchor="ctr">
            <a:noAutofit/>
          </a:bodyPr>
          <a:lstStyle>
            <a:defPPr algn="l">
              <a:defRPr sz="800" b="1" i="0">
                <a:solidFill>
                  <a:srgbClr val="263746"/>
                </a:solidFill>
                <a:latin typeface="Times New Roman" panose="02020603050405020304"/>
                <a:ea typeface="Times New Roman" panose="02020603050405020304"/>
                <a:cs typeface="Times New Roman" panose="02020603050405020304"/>
              </a:defRPr>
            </a:defPPr>
          </a:lstStyle>
          <a:p>
            <a:pPr algn="l">
              <a:defRPr sz="800" b="1" i="0">
                <a:solidFill>
                  <a:srgbClr val="263746"/>
                </a:solidFill>
                <a:latin typeface="Times New Roman" panose="02020603050405020304"/>
                <a:ea typeface="Times New Roman" panose="02020603050405020304"/>
                <a:cs typeface="Times New Roman" panose="02020603050405020304"/>
              </a:defRPr>
            </a:pPr>
            <a:r>
              <a:rPr sz="800" b="1" i="0">
                <a:solidFill>
                  <a:srgbClr val="263746"/>
                </a:solidFill>
                <a:latin typeface="Times New Roman" panose="02020603050405020304"/>
                <a:ea typeface="Times New Roman" panose="02020603050405020304"/>
                <a:cs typeface="Times New Roman" panose="02020603050405020304"/>
              </a:rPr>
              <a:t>Cross-region lagged history</a:t>
            </a:r>
            <a:endParaRPr sz="800" b="1" i="0">
              <a:solidFill>
                <a:srgbClr val="263746"/>
              </a:solidFill>
              <a:latin typeface="Times New Roman" panose="02020603050405020304"/>
              <a:ea typeface="Times New Roman" panose="02020603050405020304"/>
              <a:cs typeface="Times New Roman" panose="02020603050405020304"/>
            </a:endParaRPr>
          </a:p>
        </p:txBody>
      </p:sp>
      <p:sp>
        <p:nvSpPr>
          <p:cNvPr id="79" name="B_cross_metadata"/>
          <p:cNvSpPr>
            <a:spLocks noGrp="1"/>
          </p:cNvSpPr>
          <p:nvPr/>
        </p:nvSpPr>
        <p:spPr>
          <a:xfrm>
            <a:off x="432000" y="3871549"/>
            <a:ext cx="2664000" cy="104902"/>
          </a:xfrm>
          <a:prstGeom prst="rect">
            <a:avLst/>
          </a:prstGeom>
          <a:noFill/>
          <a:ln w="0">
            <a:noFill/>
            <a:prstDash val="solid"/>
          </a:ln>
        </p:spPr>
        <p:txBody>
          <a:bodyPr wrap="none" lIns="0" tIns="0" rIns="0" bIns="0" anchor="ctr">
            <a:noAutofit/>
          </a:bodyPr>
          <a:lstStyle>
            <a:defPPr algn="l">
              <a:defRPr sz="700" b="0" i="0">
                <a:solidFill>
                  <a:srgbClr val="657580"/>
                </a:solidFill>
                <a:latin typeface="Times New Roman" panose="02020603050405020304"/>
                <a:ea typeface="Times New Roman" panose="02020603050405020304"/>
                <a:cs typeface="Times New Roman" panose="02020603050405020304"/>
              </a:defRPr>
            </a:defPPr>
          </a:lstStyle>
          <a:p>
            <a:pPr algn="l">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Nov 24 | Grid 600 leads Grid 601 by 30 min</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80" name="B_cross_target_sample"/>
          <p:cNvSpPr>
            <a:spLocks noGrp="1"/>
          </p:cNvSpPr>
          <p:nvPr/>
        </p:nvSpPr>
        <p:spPr>
          <a:xfrm>
            <a:off x="432000" y="4068000"/>
            <a:ext cx="180000" cy="36"/>
          </a:xfrm>
          <a:custGeom>
            <a:avLst/>
            <a:gdLst/>
            <a:ahLst/>
            <a:cxnLst/>
            <a:pathLst>
              <a:path w="180000" h="36">
                <a:moveTo>
                  <a:pt x="0" y="0"/>
                </a:moveTo>
                <a:lnTo>
                  <a:pt x="180000" y="0"/>
                </a:lnTo>
              </a:path>
            </a:pathLst>
          </a:custGeom>
          <a:noFill/>
          <a:ln w="14605">
            <a:solidFill>
              <a:srgbClr val="D55E00"/>
            </a:solidFill>
            <a:prstDash val="solid"/>
          </a:ln>
        </p:spPr>
      </p:sp>
      <p:sp>
        <p:nvSpPr>
          <p:cNvPr id="81" name="B_cross_target_label"/>
          <p:cNvSpPr>
            <a:spLocks noGrp="1"/>
          </p:cNvSpPr>
          <p:nvPr/>
        </p:nvSpPr>
        <p:spPr>
          <a:xfrm>
            <a:off x="662400" y="4011803"/>
            <a:ext cx="1044000" cy="112395"/>
          </a:xfrm>
          <a:prstGeom prst="rect">
            <a:avLst/>
          </a:prstGeom>
          <a:noFill/>
          <a:ln w="0">
            <a:noFill/>
            <a:prstDash val="solid"/>
          </a:ln>
        </p:spPr>
        <p:txBody>
          <a:bodyPr wrap="none" lIns="0" tIns="0" rIns="0" bIns="0" anchor="ctr">
            <a:noAutofit/>
          </a:bodyPr>
          <a:lstStyle>
            <a:defPPr algn="l">
              <a:defRPr sz="750" b="0" i="0">
                <a:solidFill>
                  <a:srgbClr val="263746"/>
                </a:solidFill>
                <a:latin typeface="Times New Roman" panose="02020603050405020304"/>
                <a:ea typeface="Times New Roman" panose="02020603050405020304"/>
                <a:cs typeface="Times New Roman" panose="02020603050405020304"/>
              </a:defRPr>
            </a:defPPr>
          </a:lstStyle>
          <a:p>
            <a:pPr algn="l">
              <a:defRPr sz="750" b="0" i="0">
                <a:solidFill>
                  <a:srgbClr val="263746"/>
                </a:solidFill>
                <a:latin typeface="Times New Roman" panose="02020603050405020304"/>
                <a:ea typeface="Times New Roman" panose="02020603050405020304"/>
                <a:cs typeface="Times New Roman" panose="02020603050405020304"/>
              </a:defRPr>
            </a:pPr>
            <a:r>
              <a:rPr sz="750" b="0" i="0">
                <a:solidFill>
                  <a:srgbClr val="263746"/>
                </a:solidFill>
                <a:latin typeface="Times New Roman" panose="02020603050405020304"/>
                <a:ea typeface="Times New Roman" panose="02020603050405020304"/>
                <a:cs typeface="Times New Roman" panose="02020603050405020304"/>
              </a:rPr>
              <a:t>Grid 601 target</a:t>
            </a:r>
            <a:endParaRPr sz="750" b="0" i="0">
              <a:solidFill>
                <a:srgbClr val="263746"/>
              </a:solidFill>
              <a:latin typeface="Times New Roman" panose="02020603050405020304"/>
              <a:ea typeface="Times New Roman" panose="02020603050405020304"/>
              <a:cs typeface="Times New Roman" panose="02020603050405020304"/>
            </a:endParaRPr>
          </a:p>
        </p:txBody>
      </p:sp>
      <p:sp>
        <p:nvSpPr>
          <p:cNvPr id="82" name="B_cross_history_sample"/>
          <p:cNvSpPr>
            <a:spLocks noGrp="1"/>
          </p:cNvSpPr>
          <p:nvPr/>
        </p:nvSpPr>
        <p:spPr>
          <a:xfrm>
            <a:off x="1728000" y="4068000"/>
            <a:ext cx="180000" cy="36"/>
          </a:xfrm>
          <a:custGeom>
            <a:avLst/>
            <a:gdLst/>
            <a:ahLst/>
            <a:cxnLst/>
            <a:pathLst>
              <a:path w="180000" h="36">
                <a:moveTo>
                  <a:pt x="0" y="0"/>
                </a:moveTo>
                <a:lnTo>
                  <a:pt x="180000" y="0"/>
                </a:lnTo>
              </a:path>
            </a:pathLst>
          </a:custGeom>
          <a:noFill/>
          <a:ln w="14605">
            <a:solidFill>
              <a:srgbClr val="4F7DA8"/>
            </a:solidFill>
            <a:prstDash val="dash"/>
          </a:ln>
        </p:spPr>
      </p:sp>
      <p:sp>
        <p:nvSpPr>
          <p:cNvPr id="83" name="B_cross_history_label"/>
          <p:cNvSpPr>
            <a:spLocks noGrp="1"/>
          </p:cNvSpPr>
          <p:nvPr/>
        </p:nvSpPr>
        <p:spPr>
          <a:xfrm>
            <a:off x="1958400" y="4011803"/>
            <a:ext cx="1188000" cy="112395"/>
          </a:xfrm>
          <a:prstGeom prst="rect">
            <a:avLst/>
          </a:prstGeom>
          <a:noFill/>
          <a:ln w="0">
            <a:noFill/>
            <a:prstDash val="solid"/>
          </a:ln>
        </p:spPr>
        <p:txBody>
          <a:bodyPr wrap="none" lIns="0" tIns="0" rIns="0" bIns="0" anchor="ctr">
            <a:noAutofit/>
          </a:bodyPr>
          <a:lstStyle>
            <a:defPPr algn="l">
              <a:defRPr sz="750" b="0" i="0">
                <a:solidFill>
                  <a:srgbClr val="263746"/>
                </a:solidFill>
                <a:latin typeface="Times New Roman" panose="02020603050405020304"/>
                <a:ea typeface="Times New Roman" panose="02020603050405020304"/>
                <a:cs typeface="Times New Roman" panose="02020603050405020304"/>
              </a:defRPr>
            </a:defPPr>
          </a:lstStyle>
          <a:p>
            <a:pPr algn="l">
              <a:defRPr sz="750" b="0" i="0">
                <a:solidFill>
                  <a:srgbClr val="263746"/>
                </a:solidFill>
                <a:latin typeface="Times New Roman" panose="02020603050405020304"/>
                <a:ea typeface="Times New Roman" panose="02020603050405020304"/>
                <a:cs typeface="Times New Roman" panose="02020603050405020304"/>
              </a:defRPr>
            </a:pPr>
            <a:r>
              <a:rPr sz="750" b="0" i="0">
                <a:solidFill>
                  <a:srgbClr val="263746"/>
                </a:solidFill>
                <a:latin typeface="Times New Roman" panose="02020603050405020304"/>
                <a:ea typeface="Times New Roman" panose="02020603050405020304"/>
                <a:cs typeface="Times New Roman" panose="02020603050405020304"/>
              </a:rPr>
              <a:t>Grid 600 (+30 min)</a:t>
            </a:r>
            <a:endParaRPr sz="750" b="0" i="0">
              <a:solidFill>
                <a:srgbClr val="263746"/>
              </a:solidFill>
              <a:latin typeface="Times New Roman" panose="02020603050405020304"/>
              <a:ea typeface="Times New Roman" panose="02020603050405020304"/>
              <a:cs typeface="Times New Roman" panose="02020603050405020304"/>
            </a:endParaRPr>
          </a:p>
        </p:txBody>
      </p:sp>
      <p:sp>
        <p:nvSpPr>
          <p:cNvPr id="84" name="B0_event"/>
          <p:cNvSpPr>
            <a:spLocks noGrp="1"/>
          </p:cNvSpPr>
          <p:nvPr/>
        </p:nvSpPr>
        <p:spPr>
          <a:xfrm>
            <a:off x="432000" y="2664000"/>
            <a:ext cx="1296000" cy="792000"/>
          </a:xfrm>
          <a:prstGeom prst="rect">
            <a:avLst/>
          </a:prstGeom>
          <a:solidFill>
            <a:srgbClr val="FBECDD"/>
          </a:solidFill>
          <a:ln w="0">
            <a:noFill/>
            <a:prstDash val="solid"/>
          </a:ln>
        </p:spPr>
      </p:sp>
      <p:sp>
        <p:nvSpPr>
          <p:cNvPr id="85" name="B0_ytick_0"/>
          <p:cNvSpPr>
            <a:spLocks noGrp="1"/>
          </p:cNvSpPr>
          <p:nvPr/>
        </p:nvSpPr>
        <p:spPr>
          <a:xfrm>
            <a:off x="401400" y="3456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86" name="B0_ylabel_0"/>
          <p:cNvSpPr>
            <a:spLocks noGrp="1"/>
          </p:cNvSpPr>
          <p:nvPr/>
        </p:nvSpPr>
        <p:spPr>
          <a:xfrm>
            <a:off x="201600" y="3403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87" name="B0_grid_5"/>
          <p:cNvSpPr>
            <a:spLocks noGrp="1"/>
          </p:cNvSpPr>
          <p:nvPr/>
        </p:nvSpPr>
        <p:spPr>
          <a:xfrm>
            <a:off x="432000" y="3258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88" name="B0_ytick_5"/>
          <p:cNvSpPr>
            <a:spLocks noGrp="1"/>
          </p:cNvSpPr>
          <p:nvPr/>
        </p:nvSpPr>
        <p:spPr>
          <a:xfrm>
            <a:off x="401400" y="3258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89" name="B0_ylabel_5"/>
          <p:cNvSpPr>
            <a:spLocks noGrp="1"/>
          </p:cNvSpPr>
          <p:nvPr/>
        </p:nvSpPr>
        <p:spPr>
          <a:xfrm>
            <a:off x="201600" y="3205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90" name="B0_grid_10"/>
          <p:cNvSpPr>
            <a:spLocks noGrp="1"/>
          </p:cNvSpPr>
          <p:nvPr/>
        </p:nvSpPr>
        <p:spPr>
          <a:xfrm>
            <a:off x="432000" y="3060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91" name="B0_ytick_10"/>
          <p:cNvSpPr>
            <a:spLocks noGrp="1"/>
          </p:cNvSpPr>
          <p:nvPr/>
        </p:nvSpPr>
        <p:spPr>
          <a:xfrm>
            <a:off x="401400" y="3060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92" name="B0_ylabel_10"/>
          <p:cNvSpPr>
            <a:spLocks noGrp="1"/>
          </p:cNvSpPr>
          <p:nvPr/>
        </p:nvSpPr>
        <p:spPr>
          <a:xfrm>
            <a:off x="201600" y="3007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93" name="B0_grid_15"/>
          <p:cNvSpPr>
            <a:spLocks noGrp="1"/>
          </p:cNvSpPr>
          <p:nvPr/>
        </p:nvSpPr>
        <p:spPr>
          <a:xfrm>
            <a:off x="432000" y="2862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94" name="B0_ytick_15"/>
          <p:cNvSpPr>
            <a:spLocks noGrp="1"/>
          </p:cNvSpPr>
          <p:nvPr/>
        </p:nvSpPr>
        <p:spPr>
          <a:xfrm>
            <a:off x="401400" y="286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95" name="B0_ylabel_15"/>
          <p:cNvSpPr>
            <a:spLocks noGrp="1"/>
          </p:cNvSpPr>
          <p:nvPr/>
        </p:nvSpPr>
        <p:spPr>
          <a:xfrm>
            <a:off x="201600" y="280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96" name="B0_grid_20"/>
          <p:cNvSpPr>
            <a:spLocks noGrp="1"/>
          </p:cNvSpPr>
          <p:nvPr/>
        </p:nvSpPr>
        <p:spPr>
          <a:xfrm>
            <a:off x="432000" y="2664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97" name="B0_ytick_20"/>
          <p:cNvSpPr>
            <a:spLocks noGrp="1"/>
          </p:cNvSpPr>
          <p:nvPr/>
        </p:nvSpPr>
        <p:spPr>
          <a:xfrm>
            <a:off x="401400" y="2664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98" name="B0_ylabel_20"/>
          <p:cNvSpPr>
            <a:spLocks noGrp="1"/>
          </p:cNvSpPr>
          <p:nvPr/>
        </p:nvSpPr>
        <p:spPr>
          <a:xfrm>
            <a:off x="201600" y="2611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20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99" name="B0_yaxis"/>
          <p:cNvSpPr>
            <a:spLocks noGrp="1"/>
          </p:cNvSpPr>
          <p:nvPr/>
        </p:nvSpPr>
        <p:spPr>
          <a:xfrm>
            <a:off x="432000" y="2664000"/>
            <a:ext cx="36" cy="792000"/>
          </a:xfrm>
          <a:custGeom>
            <a:avLst/>
            <a:gdLst/>
            <a:ahLst/>
            <a:cxnLst/>
            <a:pathLst>
              <a:path w="36" h="792000">
                <a:moveTo>
                  <a:pt x="0" y="0"/>
                </a:moveTo>
                <a:lnTo>
                  <a:pt x="0" y="792000"/>
                </a:lnTo>
              </a:path>
            </a:pathLst>
          </a:custGeom>
          <a:noFill/>
          <a:ln w="8890">
            <a:solidFill>
              <a:srgbClr val="263746"/>
            </a:solidFill>
            <a:prstDash val="solid"/>
          </a:ln>
        </p:spPr>
      </p:sp>
      <p:sp>
        <p:nvSpPr>
          <p:cNvPr id="100" name="B0_xaxis"/>
          <p:cNvSpPr>
            <a:spLocks noGrp="1"/>
          </p:cNvSpPr>
          <p:nvPr/>
        </p:nvSpPr>
        <p:spPr>
          <a:xfrm>
            <a:off x="432000" y="3456000"/>
            <a:ext cx="2592000" cy="36"/>
          </a:xfrm>
          <a:custGeom>
            <a:avLst/>
            <a:gdLst/>
            <a:ahLst/>
            <a:cxnLst/>
            <a:pathLst>
              <a:path w="2592000" h="36">
                <a:moveTo>
                  <a:pt x="0" y="0"/>
                </a:moveTo>
                <a:lnTo>
                  <a:pt x="2592000" y="0"/>
                </a:lnTo>
              </a:path>
            </a:pathLst>
          </a:custGeom>
          <a:noFill/>
          <a:ln w="8890">
            <a:solidFill>
              <a:srgbClr val="263746"/>
            </a:solidFill>
            <a:prstDash val="solid"/>
          </a:ln>
        </p:spPr>
      </p:sp>
      <p:sp>
        <p:nvSpPr>
          <p:cNvPr id="101" name="B0_xtick_0"/>
          <p:cNvSpPr>
            <a:spLocks noGrp="1"/>
          </p:cNvSpPr>
          <p:nvPr/>
        </p:nvSpPr>
        <p:spPr>
          <a:xfrm>
            <a:off x="432000" y="3456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02" name="B0_xlabel_0"/>
          <p:cNvSpPr>
            <a:spLocks noGrp="1"/>
          </p:cNvSpPr>
          <p:nvPr/>
        </p:nvSpPr>
        <p:spPr>
          <a:xfrm>
            <a:off x="252000" y="3493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08:30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03" name="B0_xtick_1"/>
          <p:cNvSpPr>
            <a:spLocks noGrp="1"/>
          </p:cNvSpPr>
          <p:nvPr/>
        </p:nvSpPr>
        <p:spPr>
          <a:xfrm>
            <a:off x="1296000" y="3456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04" name="B0_xlabel_1"/>
          <p:cNvSpPr>
            <a:spLocks noGrp="1"/>
          </p:cNvSpPr>
          <p:nvPr/>
        </p:nvSpPr>
        <p:spPr>
          <a:xfrm>
            <a:off x="1116000" y="3493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09:30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05" name="B0_xtick_2"/>
          <p:cNvSpPr>
            <a:spLocks noGrp="1"/>
          </p:cNvSpPr>
          <p:nvPr/>
        </p:nvSpPr>
        <p:spPr>
          <a:xfrm>
            <a:off x="2160000" y="3456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06" name="B0_xlabel_2"/>
          <p:cNvSpPr>
            <a:spLocks noGrp="1"/>
          </p:cNvSpPr>
          <p:nvPr/>
        </p:nvSpPr>
        <p:spPr>
          <a:xfrm>
            <a:off x="1980000" y="3493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10:30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07" name="B0_xtick_3"/>
          <p:cNvSpPr>
            <a:spLocks noGrp="1"/>
          </p:cNvSpPr>
          <p:nvPr/>
        </p:nvSpPr>
        <p:spPr>
          <a:xfrm>
            <a:off x="3024000" y="3456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08" name="B0_xlabel_3"/>
          <p:cNvSpPr>
            <a:spLocks noGrp="1"/>
          </p:cNvSpPr>
          <p:nvPr/>
        </p:nvSpPr>
        <p:spPr>
          <a:xfrm>
            <a:off x="2844000" y="3493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11:30</a:t>
            </a:r>
            <a:endParaRPr sz="700" b="0" i="0">
              <a:solidFill>
                <a:srgbClr val="263746"/>
              </a:solidFill>
              <a:latin typeface="Times New Roman" panose="02020603050405020304"/>
              <a:ea typeface="Times New Roman" panose="02020603050405020304"/>
              <a:cs typeface="Times New Roman" panose="02020603050405020304"/>
            </a:endParaRPr>
          </a:p>
        </p:txBody>
      </p:sp>
      <p:graphicFrame>
        <p:nvGraphicFramePr>
          <p:cNvPr id="109" name="Chart"/>
          <p:cNvGraphicFramePr/>
          <p:nvPr/>
        </p:nvGraphicFramePr>
        <p:xfrm>
          <a:off x="432000" y="2664000"/>
          <a:ext cx="2592000" cy="792000"/>
        </p:xfrm>
        <a:graphic>
          <a:graphicData uri="http://schemas.openxmlformats.org/drawingml/2006/chart">
            <c:chart xmlns:c="http://schemas.openxmlformats.org/drawingml/2006/chart" xmlns:r="http://schemas.openxmlformats.org/officeDocument/2006/relationships" r:id="rId2"/>
          </a:graphicData>
        </a:graphic>
      </p:graphicFrame>
      <p:sp>
        <p:nvSpPr>
          <p:cNvPr id="110" name="B1_event"/>
          <p:cNvSpPr>
            <a:spLocks noGrp="1"/>
          </p:cNvSpPr>
          <p:nvPr/>
        </p:nvSpPr>
        <p:spPr>
          <a:xfrm>
            <a:off x="432000" y="4320000"/>
            <a:ext cx="1296000" cy="792000"/>
          </a:xfrm>
          <a:prstGeom prst="rect">
            <a:avLst/>
          </a:prstGeom>
          <a:solidFill>
            <a:srgbClr val="FBECDD"/>
          </a:solidFill>
          <a:ln w="0">
            <a:noFill/>
            <a:prstDash val="solid"/>
          </a:ln>
        </p:spPr>
      </p:sp>
      <p:sp>
        <p:nvSpPr>
          <p:cNvPr id="111" name="B1_ytick_0"/>
          <p:cNvSpPr>
            <a:spLocks noGrp="1"/>
          </p:cNvSpPr>
          <p:nvPr/>
        </p:nvSpPr>
        <p:spPr>
          <a:xfrm>
            <a:off x="401400" y="511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12" name="B1_ylabel_0"/>
          <p:cNvSpPr>
            <a:spLocks noGrp="1"/>
          </p:cNvSpPr>
          <p:nvPr/>
        </p:nvSpPr>
        <p:spPr>
          <a:xfrm>
            <a:off x="201600" y="505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13" name="B1_grid_5"/>
          <p:cNvSpPr>
            <a:spLocks noGrp="1"/>
          </p:cNvSpPr>
          <p:nvPr/>
        </p:nvSpPr>
        <p:spPr>
          <a:xfrm>
            <a:off x="432000" y="4914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14" name="B1_ytick_5"/>
          <p:cNvSpPr>
            <a:spLocks noGrp="1"/>
          </p:cNvSpPr>
          <p:nvPr/>
        </p:nvSpPr>
        <p:spPr>
          <a:xfrm>
            <a:off x="401400" y="4914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15" name="B1_ylabel_5"/>
          <p:cNvSpPr>
            <a:spLocks noGrp="1"/>
          </p:cNvSpPr>
          <p:nvPr/>
        </p:nvSpPr>
        <p:spPr>
          <a:xfrm>
            <a:off x="201600" y="4861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16" name="B1_grid_10"/>
          <p:cNvSpPr>
            <a:spLocks noGrp="1"/>
          </p:cNvSpPr>
          <p:nvPr/>
        </p:nvSpPr>
        <p:spPr>
          <a:xfrm>
            <a:off x="432000" y="4716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17" name="B1_ytick_10"/>
          <p:cNvSpPr>
            <a:spLocks noGrp="1"/>
          </p:cNvSpPr>
          <p:nvPr/>
        </p:nvSpPr>
        <p:spPr>
          <a:xfrm>
            <a:off x="401400" y="4716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18" name="B1_ylabel_10"/>
          <p:cNvSpPr>
            <a:spLocks noGrp="1"/>
          </p:cNvSpPr>
          <p:nvPr/>
        </p:nvSpPr>
        <p:spPr>
          <a:xfrm>
            <a:off x="201600" y="4663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19" name="B1_grid_15"/>
          <p:cNvSpPr>
            <a:spLocks noGrp="1"/>
          </p:cNvSpPr>
          <p:nvPr/>
        </p:nvSpPr>
        <p:spPr>
          <a:xfrm>
            <a:off x="432000" y="4518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20" name="B1_ytick_15"/>
          <p:cNvSpPr>
            <a:spLocks noGrp="1"/>
          </p:cNvSpPr>
          <p:nvPr/>
        </p:nvSpPr>
        <p:spPr>
          <a:xfrm>
            <a:off x="401400" y="4518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21" name="B1_ylabel_15"/>
          <p:cNvSpPr>
            <a:spLocks noGrp="1"/>
          </p:cNvSpPr>
          <p:nvPr/>
        </p:nvSpPr>
        <p:spPr>
          <a:xfrm>
            <a:off x="201600" y="4465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22" name="B1_grid_20"/>
          <p:cNvSpPr>
            <a:spLocks noGrp="1"/>
          </p:cNvSpPr>
          <p:nvPr/>
        </p:nvSpPr>
        <p:spPr>
          <a:xfrm>
            <a:off x="432000" y="4320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23" name="B1_ytick_20"/>
          <p:cNvSpPr>
            <a:spLocks noGrp="1"/>
          </p:cNvSpPr>
          <p:nvPr/>
        </p:nvSpPr>
        <p:spPr>
          <a:xfrm>
            <a:off x="401400" y="4320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24" name="B1_ylabel_20"/>
          <p:cNvSpPr>
            <a:spLocks noGrp="1"/>
          </p:cNvSpPr>
          <p:nvPr/>
        </p:nvSpPr>
        <p:spPr>
          <a:xfrm>
            <a:off x="201600" y="4267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20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25" name="B1_yaxis"/>
          <p:cNvSpPr>
            <a:spLocks noGrp="1"/>
          </p:cNvSpPr>
          <p:nvPr/>
        </p:nvSpPr>
        <p:spPr>
          <a:xfrm>
            <a:off x="432000" y="4320000"/>
            <a:ext cx="36" cy="792000"/>
          </a:xfrm>
          <a:custGeom>
            <a:avLst/>
            <a:gdLst/>
            <a:ahLst/>
            <a:cxnLst/>
            <a:pathLst>
              <a:path w="36" h="792000">
                <a:moveTo>
                  <a:pt x="0" y="0"/>
                </a:moveTo>
                <a:lnTo>
                  <a:pt x="0" y="792000"/>
                </a:lnTo>
              </a:path>
            </a:pathLst>
          </a:custGeom>
          <a:noFill/>
          <a:ln w="8890">
            <a:solidFill>
              <a:srgbClr val="263746"/>
            </a:solidFill>
            <a:prstDash val="solid"/>
          </a:ln>
        </p:spPr>
      </p:sp>
      <p:sp>
        <p:nvSpPr>
          <p:cNvPr id="126" name="B1_xaxis"/>
          <p:cNvSpPr>
            <a:spLocks noGrp="1"/>
          </p:cNvSpPr>
          <p:nvPr/>
        </p:nvSpPr>
        <p:spPr>
          <a:xfrm>
            <a:off x="432000" y="5112000"/>
            <a:ext cx="2592000" cy="36"/>
          </a:xfrm>
          <a:custGeom>
            <a:avLst/>
            <a:gdLst/>
            <a:ahLst/>
            <a:cxnLst/>
            <a:pathLst>
              <a:path w="2592000" h="36">
                <a:moveTo>
                  <a:pt x="0" y="0"/>
                </a:moveTo>
                <a:lnTo>
                  <a:pt x="2592000" y="0"/>
                </a:lnTo>
              </a:path>
            </a:pathLst>
          </a:custGeom>
          <a:noFill/>
          <a:ln w="8890">
            <a:solidFill>
              <a:srgbClr val="263746"/>
            </a:solidFill>
            <a:prstDash val="solid"/>
          </a:ln>
        </p:spPr>
      </p:sp>
      <p:sp>
        <p:nvSpPr>
          <p:cNvPr id="127" name="B1_xtick_0"/>
          <p:cNvSpPr>
            <a:spLocks noGrp="1"/>
          </p:cNvSpPr>
          <p:nvPr/>
        </p:nvSpPr>
        <p:spPr>
          <a:xfrm>
            <a:off x="432000" y="51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28" name="B1_xlabel_0"/>
          <p:cNvSpPr>
            <a:spLocks noGrp="1"/>
          </p:cNvSpPr>
          <p:nvPr/>
        </p:nvSpPr>
        <p:spPr>
          <a:xfrm>
            <a:off x="252000" y="5149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08:30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29" name="B1_xtick_1"/>
          <p:cNvSpPr>
            <a:spLocks noGrp="1"/>
          </p:cNvSpPr>
          <p:nvPr/>
        </p:nvSpPr>
        <p:spPr>
          <a:xfrm>
            <a:off x="1296000" y="51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30" name="B1_xlabel_1"/>
          <p:cNvSpPr>
            <a:spLocks noGrp="1"/>
          </p:cNvSpPr>
          <p:nvPr/>
        </p:nvSpPr>
        <p:spPr>
          <a:xfrm>
            <a:off x="1116000" y="5149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09:30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31" name="B1_xtick_2"/>
          <p:cNvSpPr>
            <a:spLocks noGrp="1"/>
          </p:cNvSpPr>
          <p:nvPr/>
        </p:nvSpPr>
        <p:spPr>
          <a:xfrm>
            <a:off x="2160000" y="51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32" name="B1_xlabel_2"/>
          <p:cNvSpPr>
            <a:spLocks noGrp="1"/>
          </p:cNvSpPr>
          <p:nvPr/>
        </p:nvSpPr>
        <p:spPr>
          <a:xfrm>
            <a:off x="1980000" y="5149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10:30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33" name="B1_xtick_3"/>
          <p:cNvSpPr>
            <a:spLocks noGrp="1"/>
          </p:cNvSpPr>
          <p:nvPr/>
        </p:nvSpPr>
        <p:spPr>
          <a:xfrm>
            <a:off x="3024000" y="51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34" name="B1_xlabel_3"/>
          <p:cNvSpPr>
            <a:spLocks noGrp="1"/>
          </p:cNvSpPr>
          <p:nvPr/>
        </p:nvSpPr>
        <p:spPr>
          <a:xfrm>
            <a:off x="2844000" y="5149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11:30</a:t>
            </a:r>
            <a:endParaRPr sz="700" b="0" i="0">
              <a:solidFill>
                <a:srgbClr val="263746"/>
              </a:solidFill>
              <a:latin typeface="Times New Roman" panose="02020603050405020304"/>
              <a:ea typeface="Times New Roman" panose="02020603050405020304"/>
              <a:cs typeface="Times New Roman" panose="02020603050405020304"/>
            </a:endParaRPr>
          </a:p>
        </p:txBody>
      </p:sp>
      <p:graphicFrame>
        <p:nvGraphicFramePr>
          <p:cNvPr id="135" name="Chart"/>
          <p:cNvGraphicFramePr/>
          <p:nvPr/>
        </p:nvGraphicFramePr>
        <p:xfrm>
          <a:off x="432000" y="4320000"/>
          <a:ext cx="2592000" cy="792000"/>
        </p:xfrm>
        <a:graphic>
          <a:graphicData uri="http://schemas.openxmlformats.org/drawingml/2006/chart">
            <c:chart xmlns:c="http://schemas.openxmlformats.org/drawingml/2006/chart" xmlns:r="http://schemas.openxmlformats.org/officeDocument/2006/relationships" r:id="rId3"/>
          </a:graphicData>
        </a:graphic>
      </p:graphicFrame>
      <p:sp>
        <p:nvSpPr>
          <p:cNvPr id="136" name="C_declining_title"/>
          <p:cNvSpPr>
            <a:spLocks noGrp="1"/>
          </p:cNvSpPr>
          <p:nvPr/>
        </p:nvSpPr>
        <p:spPr>
          <a:xfrm>
            <a:off x="3672000" y="2064056"/>
            <a:ext cx="2592000" cy="119888"/>
          </a:xfrm>
          <a:prstGeom prst="rect">
            <a:avLst/>
          </a:prstGeom>
          <a:noFill/>
          <a:ln w="0">
            <a:noFill/>
            <a:prstDash val="solid"/>
          </a:ln>
        </p:spPr>
        <p:txBody>
          <a:bodyPr wrap="none" lIns="0" tIns="0" rIns="0" bIns="0" anchor="ctr">
            <a:noAutofit/>
          </a:bodyPr>
          <a:lstStyle>
            <a:defPPr algn="l">
              <a:defRPr sz="800" b="1" i="0">
                <a:solidFill>
                  <a:srgbClr val="263746"/>
                </a:solidFill>
                <a:latin typeface="Times New Roman" panose="02020603050405020304"/>
                <a:ea typeface="Times New Roman" panose="02020603050405020304"/>
                <a:cs typeface="Times New Roman" panose="02020603050405020304"/>
              </a:defRPr>
            </a:defPPr>
          </a:lstStyle>
          <a:p>
            <a:pPr algn="l">
              <a:defRPr sz="800" b="1" i="0">
                <a:solidFill>
                  <a:srgbClr val="263746"/>
                </a:solidFill>
                <a:latin typeface="Times New Roman" panose="02020603050405020304"/>
                <a:ea typeface="Times New Roman" panose="02020603050405020304"/>
                <a:cs typeface="Times New Roman" panose="02020603050405020304"/>
              </a:defRPr>
            </a:pPr>
            <a:r>
              <a:rPr sz="800" b="1" i="0">
                <a:solidFill>
                  <a:srgbClr val="263746"/>
                </a:solidFill>
                <a:latin typeface="Times New Roman" panose="02020603050405020304"/>
                <a:ea typeface="Times New Roman" panose="02020603050405020304"/>
                <a:cs typeface="Times New Roman" panose="02020603050405020304"/>
              </a:rPr>
              <a:t>Declining history</a:t>
            </a:r>
            <a:endParaRPr sz="800" b="1" i="0">
              <a:solidFill>
                <a:srgbClr val="263746"/>
              </a:solidFill>
              <a:latin typeface="Times New Roman" panose="02020603050405020304"/>
              <a:ea typeface="Times New Roman" panose="02020603050405020304"/>
              <a:cs typeface="Times New Roman" panose="02020603050405020304"/>
            </a:endParaRPr>
          </a:p>
        </p:txBody>
      </p:sp>
      <p:sp>
        <p:nvSpPr>
          <p:cNvPr id="137" name="C_declining_metadata"/>
          <p:cNvSpPr>
            <a:spLocks noGrp="1"/>
          </p:cNvSpPr>
          <p:nvPr/>
        </p:nvSpPr>
        <p:spPr>
          <a:xfrm>
            <a:off x="3672000" y="2215549"/>
            <a:ext cx="2592000" cy="104902"/>
          </a:xfrm>
          <a:prstGeom prst="rect">
            <a:avLst/>
          </a:prstGeom>
          <a:noFill/>
          <a:ln w="0">
            <a:noFill/>
            <a:prstDash val="solid"/>
          </a:ln>
        </p:spPr>
        <p:txBody>
          <a:bodyPr wrap="none" lIns="0" tIns="0" rIns="0" bIns="0" anchor="ctr">
            <a:noAutofit/>
          </a:bodyPr>
          <a:lstStyle>
            <a:defPPr algn="l">
              <a:defRPr sz="700" b="0" i="0">
                <a:solidFill>
                  <a:srgbClr val="657580"/>
                </a:solidFill>
                <a:latin typeface="Times New Roman" panose="02020603050405020304"/>
                <a:ea typeface="Times New Roman" panose="02020603050405020304"/>
                <a:cs typeface="Times New Roman" panose="02020603050405020304"/>
              </a:defRPr>
            </a:defPPr>
          </a:lstStyle>
          <a:p>
            <a:pPr algn="l">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Nov 24 | t₀ = 10:30</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138" name="C_target_sample"/>
          <p:cNvSpPr>
            <a:spLocks noGrp="1"/>
          </p:cNvSpPr>
          <p:nvPr/>
        </p:nvSpPr>
        <p:spPr>
          <a:xfrm>
            <a:off x="3672000" y="2412000"/>
            <a:ext cx="180000" cy="36"/>
          </a:xfrm>
          <a:custGeom>
            <a:avLst/>
            <a:gdLst/>
            <a:ahLst/>
            <a:cxnLst/>
            <a:pathLst>
              <a:path w="180000" h="36">
                <a:moveTo>
                  <a:pt x="0" y="0"/>
                </a:moveTo>
                <a:lnTo>
                  <a:pt x="180000" y="0"/>
                </a:lnTo>
              </a:path>
            </a:pathLst>
          </a:custGeom>
          <a:noFill/>
          <a:ln w="14605">
            <a:solidFill>
              <a:srgbClr val="D55E00"/>
            </a:solidFill>
            <a:prstDash val="solid"/>
          </a:ln>
        </p:spPr>
      </p:sp>
      <p:sp>
        <p:nvSpPr>
          <p:cNvPr id="139" name="C_target_label"/>
          <p:cNvSpPr>
            <a:spLocks noGrp="1"/>
          </p:cNvSpPr>
          <p:nvPr/>
        </p:nvSpPr>
        <p:spPr>
          <a:xfrm>
            <a:off x="3902400" y="2355803"/>
            <a:ext cx="1044000" cy="112395"/>
          </a:xfrm>
          <a:prstGeom prst="rect">
            <a:avLst/>
          </a:prstGeom>
          <a:noFill/>
          <a:ln w="0">
            <a:noFill/>
            <a:prstDash val="solid"/>
          </a:ln>
        </p:spPr>
        <p:txBody>
          <a:bodyPr wrap="none" lIns="0" tIns="0" rIns="0" bIns="0" anchor="ctr">
            <a:noAutofit/>
          </a:bodyPr>
          <a:lstStyle>
            <a:defPPr algn="l">
              <a:defRPr sz="750" b="0" i="0">
                <a:solidFill>
                  <a:srgbClr val="263746"/>
                </a:solidFill>
                <a:latin typeface="Times New Roman" panose="02020603050405020304"/>
                <a:ea typeface="Times New Roman" panose="02020603050405020304"/>
                <a:cs typeface="Times New Roman" panose="02020603050405020304"/>
              </a:defRPr>
            </a:defPPr>
          </a:lstStyle>
          <a:p>
            <a:pPr algn="l">
              <a:defRPr sz="750" b="0" i="0">
                <a:solidFill>
                  <a:srgbClr val="263746"/>
                </a:solidFill>
                <a:latin typeface="Times New Roman" panose="02020603050405020304"/>
                <a:ea typeface="Times New Roman" panose="02020603050405020304"/>
                <a:cs typeface="Times New Roman" panose="02020603050405020304"/>
              </a:defRPr>
            </a:pPr>
            <a:r>
              <a:rPr sz="750" b="0" i="0">
                <a:solidFill>
                  <a:srgbClr val="263746"/>
                </a:solidFill>
                <a:latin typeface="Times New Roman" panose="02020603050405020304"/>
                <a:ea typeface="Times New Roman" panose="02020603050405020304"/>
                <a:cs typeface="Times New Roman" panose="02020603050405020304"/>
              </a:rPr>
              <a:t>Grid 601 target</a:t>
            </a:r>
            <a:endParaRPr sz="750" b="0" i="0">
              <a:solidFill>
                <a:srgbClr val="263746"/>
              </a:solidFill>
              <a:latin typeface="Times New Roman" panose="02020603050405020304"/>
              <a:ea typeface="Times New Roman" panose="02020603050405020304"/>
              <a:cs typeface="Times New Roman" panose="02020603050405020304"/>
            </a:endParaRPr>
          </a:p>
        </p:txBody>
      </p:sp>
      <p:sp>
        <p:nvSpPr>
          <p:cNvPr id="140" name="C_neighbor_sample"/>
          <p:cNvSpPr>
            <a:spLocks noGrp="1"/>
          </p:cNvSpPr>
          <p:nvPr/>
        </p:nvSpPr>
        <p:spPr>
          <a:xfrm>
            <a:off x="4968000" y="2412000"/>
            <a:ext cx="180000" cy="36"/>
          </a:xfrm>
          <a:custGeom>
            <a:avLst/>
            <a:gdLst/>
            <a:ahLst/>
            <a:cxnLst/>
            <a:pathLst>
              <a:path w="180000" h="36">
                <a:moveTo>
                  <a:pt x="0" y="0"/>
                </a:moveTo>
                <a:lnTo>
                  <a:pt x="180000" y="0"/>
                </a:lnTo>
              </a:path>
            </a:pathLst>
          </a:custGeom>
          <a:noFill/>
          <a:ln w="14605">
            <a:solidFill>
              <a:srgbClr val="4F7DA8"/>
            </a:solidFill>
            <a:prstDash val="dash"/>
          </a:ln>
        </p:spPr>
      </p:sp>
      <p:sp>
        <p:nvSpPr>
          <p:cNvPr id="141" name="C_neighbor_label"/>
          <p:cNvSpPr>
            <a:spLocks noGrp="1"/>
          </p:cNvSpPr>
          <p:nvPr/>
        </p:nvSpPr>
        <p:spPr>
          <a:xfrm>
            <a:off x="5198400" y="2355803"/>
            <a:ext cx="1188000" cy="112395"/>
          </a:xfrm>
          <a:prstGeom prst="rect">
            <a:avLst/>
          </a:prstGeom>
          <a:noFill/>
          <a:ln w="0">
            <a:noFill/>
            <a:prstDash val="solid"/>
          </a:ln>
        </p:spPr>
        <p:txBody>
          <a:bodyPr wrap="none" lIns="0" tIns="0" rIns="0" bIns="0" anchor="ctr">
            <a:noAutofit/>
          </a:bodyPr>
          <a:lstStyle>
            <a:defPPr algn="l">
              <a:defRPr sz="750" b="0" i="0">
                <a:solidFill>
                  <a:srgbClr val="263746"/>
                </a:solidFill>
                <a:latin typeface="Times New Roman" panose="02020603050405020304"/>
                <a:ea typeface="Times New Roman" panose="02020603050405020304"/>
                <a:cs typeface="Times New Roman" panose="02020603050405020304"/>
              </a:defRPr>
            </a:defPPr>
          </a:lstStyle>
          <a:p>
            <a:pPr algn="l">
              <a:defRPr sz="750" b="0" i="0">
                <a:solidFill>
                  <a:srgbClr val="263746"/>
                </a:solidFill>
                <a:latin typeface="Times New Roman" panose="02020603050405020304"/>
                <a:ea typeface="Times New Roman" panose="02020603050405020304"/>
                <a:cs typeface="Times New Roman" panose="02020603050405020304"/>
              </a:defRPr>
            </a:pPr>
            <a:r>
              <a:rPr sz="750" b="0" i="0">
                <a:solidFill>
                  <a:srgbClr val="263746"/>
                </a:solidFill>
                <a:latin typeface="Times New Roman" panose="02020603050405020304"/>
                <a:ea typeface="Times New Roman" panose="02020603050405020304"/>
                <a:cs typeface="Times New Roman" panose="02020603050405020304"/>
              </a:rPr>
              <a:t>Grid 600 (+30 min)</a:t>
            </a:r>
            <a:endParaRPr sz="750" b="0" i="0">
              <a:solidFill>
                <a:srgbClr val="263746"/>
              </a:solidFill>
              <a:latin typeface="Times New Roman" panose="02020603050405020304"/>
              <a:ea typeface="Times New Roman" panose="02020603050405020304"/>
              <a:cs typeface="Times New Roman" panose="02020603050405020304"/>
            </a:endParaRPr>
          </a:p>
        </p:txBody>
      </p:sp>
      <p:sp>
        <p:nvSpPr>
          <p:cNvPr id="142" name="C_rising_title"/>
          <p:cNvSpPr>
            <a:spLocks noGrp="1"/>
          </p:cNvSpPr>
          <p:nvPr/>
        </p:nvSpPr>
        <p:spPr>
          <a:xfrm>
            <a:off x="3672000" y="3720056"/>
            <a:ext cx="2592000" cy="119888"/>
          </a:xfrm>
          <a:prstGeom prst="rect">
            <a:avLst/>
          </a:prstGeom>
          <a:noFill/>
          <a:ln w="0">
            <a:noFill/>
            <a:prstDash val="solid"/>
          </a:ln>
        </p:spPr>
        <p:txBody>
          <a:bodyPr wrap="none" lIns="0" tIns="0" rIns="0" bIns="0" anchor="ctr">
            <a:noAutofit/>
          </a:bodyPr>
          <a:lstStyle>
            <a:defPPr algn="l">
              <a:defRPr sz="800" b="1" i="0">
                <a:solidFill>
                  <a:srgbClr val="263746"/>
                </a:solidFill>
                <a:latin typeface="Times New Roman" panose="02020603050405020304"/>
                <a:ea typeface="Times New Roman" panose="02020603050405020304"/>
                <a:cs typeface="Times New Roman" panose="02020603050405020304"/>
              </a:defRPr>
            </a:defPPr>
          </a:lstStyle>
          <a:p>
            <a:pPr algn="l">
              <a:defRPr sz="800" b="1" i="0">
                <a:solidFill>
                  <a:srgbClr val="263746"/>
                </a:solidFill>
                <a:latin typeface="Times New Roman" panose="02020603050405020304"/>
                <a:ea typeface="Times New Roman" panose="02020603050405020304"/>
                <a:cs typeface="Times New Roman" panose="02020603050405020304"/>
              </a:defRPr>
            </a:pPr>
            <a:r>
              <a:rPr sz="800" b="1" i="0">
                <a:solidFill>
                  <a:srgbClr val="263746"/>
                </a:solidFill>
                <a:latin typeface="Times New Roman" panose="02020603050405020304"/>
                <a:ea typeface="Times New Roman" panose="02020603050405020304"/>
                <a:cs typeface="Times New Roman" panose="02020603050405020304"/>
              </a:rPr>
              <a:t>Rising history</a:t>
            </a:r>
            <a:endParaRPr sz="800" b="1" i="0">
              <a:solidFill>
                <a:srgbClr val="263746"/>
              </a:solidFill>
              <a:latin typeface="Times New Roman" panose="02020603050405020304"/>
              <a:ea typeface="Times New Roman" panose="02020603050405020304"/>
              <a:cs typeface="Times New Roman" panose="02020603050405020304"/>
            </a:endParaRPr>
          </a:p>
        </p:txBody>
      </p:sp>
      <p:sp>
        <p:nvSpPr>
          <p:cNvPr id="143" name="C_rising_metadata"/>
          <p:cNvSpPr>
            <a:spLocks noGrp="1"/>
          </p:cNvSpPr>
          <p:nvPr/>
        </p:nvSpPr>
        <p:spPr>
          <a:xfrm>
            <a:off x="3672000" y="3871549"/>
            <a:ext cx="2592000" cy="104902"/>
          </a:xfrm>
          <a:prstGeom prst="rect">
            <a:avLst/>
          </a:prstGeom>
          <a:noFill/>
          <a:ln w="0">
            <a:noFill/>
            <a:prstDash val="solid"/>
          </a:ln>
        </p:spPr>
        <p:txBody>
          <a:bodyPr wrap="none" lIns="0" tIns="0" rIns="0" bIns="0" anchor="ctr">
            <a:noAutofit/>
          </a:bodyPr>
          <a:lstStyle>
            <a:defPPr algn="l">
              <a:defRPr sz="700" b="0" i="0">
                <a:solidFill>
                  <a:srgbClr val="657580"/>
                </a:solidFill>
                <a:latin typeface="Times New Roman" panose="02020603050405020304"/>
                <a:ea typeface="Times New Roman" panose="02020603050405020304"/>
                <a:cs typeface="Times New Roman" panose="02020603050405020304"/>
              </a:defRPr>
            </a:defPPr>
          </a:lstStyle>
          <a:p>
            <a:pPr algn="l">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Nov 28 | t₀ = 08:15</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144" name="C0_near"/>
          <p:cNvSpPr>
            <a:spLocks noGrp="1"/>
          </p:cNvSpPr>
          <p:nvPr/>
        </p:nvSpPr>
        <p:spPr>
          <a:xfrm>
            <a:off x="5400000" y="2664000"/>
            <a:ext cx="432000" cy="792000"/>
          </a:xfrm>
          <a:prstGeom prst="rect">
            <a:avLst/>
          </a:prstGeom>
          <a:solidFill>
            <a:srgbClr val="F3F5F6"/>
          </a:solidFill>
          <a:ln w="0">
            <a:noFill/>
            <a:prstDash val="solid"/>
          </a:ln>
        </p:spPr>
      </p:sp>
      <p:sp>
        <p:nvSpPr>
          <p:cNvPr id="145" name="C0_far"/>
          <p:cNvSpPr>
            <a:spLocks noGrp="1"/>
          </p:cNvSpPr>
          <p:nvPr/>
        </p:nvSpPr>
        <p:spPr>
          <a:xfrm>
            <a:off x="5832000" y="2664000"/>
            <a:ext cx="432000" cy="792000"/>
          </a:xfrm>
          <a:prstGeom prst="rect">
            <a:avLst/>
          </a:prstGeom>
          <a:solidFill>
            <a:srgbClr val="E7EBEE"/>
          </a:solidFill>
          <a:ln w="0">
            <a:noFill/>
            <a:prstDash val="solid"/>
          </a:ln>
        </p:spPr>
      </p:sp>
      <p:sp>
        <p:nvSpPr>
          <p:cNvPr id="146" name="C0_ytick_0"/>
          <p:cNvSpPr>
            <a:spLocks noGrp="1"/>
          </p:cNvSpPr>
          <p:nvPr/>
        </p:nvSpPr>
        <p:spPr>
          <a:xfrm>
            <a:off x="3641400" y="3456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47" name="C0_ylabel_0"/>
          <p:cNvSpPr>
            <a:spLocks noGrp="1"/>
          </p:cNvSpPr>
          <p:nvPr/>
        </p:nvSpPr>
        <p:spPr>
          <a:xfrm>
            <a:off x="3441600" y="3403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48" name="C0_grid_5"/>
          <p:cNvSpPr>
            <a:spLocks noGrp="1"/>
          </p:cNvSpPr>
          <p:nvPr/>
        </p:nvSpPr>
        <p:spPr>
          <a:xfrm>
            <a:off x="3672000" y="3258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49" name="C0_ytick_5"/>
          <p:cNvSpPr>
            <a:spLocks noGrp="1"/>
          </p:cNvSpPr>
          <p:nvPr/>
        </p:nvSpPr>
        <p:spPr>
          <a:xfrm>
            <a:off x="3641400" y="3258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50" name="C0_ylabel_5"/>
          <p:cNvSpPr>
            <a:spLocks noGrp="1"/>
          </p:cNvSpPr>
          <p:nvPr/>
        </p:nvSpPr>
        <p:spPr>
          <a:xfrm>
            <a:off x="3441600" y="3205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51" name="C0_grid_10"/>
          <p:cNvSpPr>
            <a:spLocks noGrp="1"/>
          </p:cNvSpPr>
          <p:nvPr/>
        </p:nvSpPr>
        <p:spPr>
          <a:xfrm>
            <a:off x="3672000" y="3060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52" name="C0_ytick_10"/>
          <p:cNvSpPr>
            <a:spLocks noGrp="1"/>
          </p:cNvSpPr>
          <p:nvPr/>
        </p:nvSpPr>
        <p:spPr>
          <a:xfrm>
            <a:off x="3641400" y="3060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53" name="C0_ylabel_10"/>
          <p:cNvSpPr>
            <a:spLocks noGrp="1"/>
          </p:cNvSpPr>
          <p:nvPr/>
        </p:nvSpPr>
        <p:spPr>
          <a:xfrm>
            <a:off x="3441600" y="3007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54" name="C0_grid_15"/>
          <p:cNvSpPr>
            <a:spLocks noGrp="1"/>
          </p:cNvSpPr>
          <p:nvPr/>
        </p:nvSpPr>
        <p:spPr>
          <a:xfrm>
            <a:off x="3672000" y="2862000"/>
            <a:ext cx="1728000" cy="36"/>
          </a:xfrm>
          <a:custGeom>
            <a:avLst/>
            <a:gdLst/>
            <a:ahLst/>
            <a:cxnLst/>
            <a:pathLst>
              <a:path w="1728000" h="36">
                <a:moveTo>
                  <a:pt x="0" y="0"/>
                </a:moveTo>
                <a:lnTo>
                  <a:pt x="1728000" y="0"/>
                </a:lnTo>
              </a:path>
            </a:pathLst>
          </a:custGeom>
          <a:noFill/>
          <a:ln w="4445">
            <a:solidFill>
              <a:srgbClr val="E0E6EB"/>
            </a:solidFill>
            <a:prstDash val="solid"/>
          </a:ln>
        </p:spPr>
      </p:sp>
      <p:sp>
        <p:nvSpPr>
          <p:cNvPr id="155" name="C0_ytick_15"/>
          <p:cNvSpPr>
            <a:spLocks noGrp="1"/>
          </p:cNvSpPr>
          <p:nvPr/>
        </p:nvSpPr>
        <p:spPr>
          <a:xfrm>
            <a:off x="3641400" y="286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56" name="C0_ylabel_15"/>
          <p:cNvSpPr>
            <a:spLocks noGrp="1"/>
          </p:cNvSpPr>
          <p:nvPr/>
        </p:nvSpPr>
        <p:spPr>
          <a:xfrm>
            <a:off x="3441600" y="280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57" name="C0_grid_20"/>
          <p:cNvSpPr>
            <a:spLocks noGrp="1"/>
          </p:cNvSpPr>
          <p:nvPr/>
        </p:nvSpPr>
        <p:spPr>
          <a:xfrm>
            <a:off x="3672000" y="2664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58" name="C0_ytick_20"/>
          <p:cNvSpPr>
            <a:spLocks noGrp="1"/>
          </p:cNvSpPr>
          <p:nvPr/>
        </p:nvSpPr>
        <p:spPr>
          <a:xfrm>
            <a:off x="3641400" y="2664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59" name="C0_ylabel_20"/>
          <p:cNvSpPr>
            <a:spLocks noGrp="1"/>
          </p:cNvSpPr>
          <p:nvPr/>
        </p:nvSpPr>
        <p:spPr>
          <a:xfrm>
            <a:off x="3441600" y="2611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20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60" name="C0_yaxis"/>
          <p:cNvSpPr>
            <a:spLocks noGrp="1"/>
          </p:cNvSpPr>
          <p:nvPr/>
        </p:nvSpPr>
        <p:spPr>
          <a:xfrm>
            <a:off x="3672000" y="2664000"/>
            <a:ext cx="36" cy="792000"/>
          </a:xfrm>
          <a:custGeom>
            <a:avLst/>
            <a:gdLst/>
            <a:ahLst/>
            <a:cxnLst/>
            <a:pathLst>
              <a:path w="36" h="792000">
                <a:moveTo>
                  <a:pt x="0" y="0"/>
                </a:moveTo>
                <a:lnTo>
                  <a:pt x="0" y="792000"/>
                </a:lnTo>
              </a:path>
            </a:pathLst>
          </a:custGeom>
          <a:noFill/>
          <a:ln w="8890">
            <a:solidFill>
              <a:srgbClr val="263746"/>
            </a:solidFill>
            <a:prstDash val="solid"/>
          </a:ln>
        </p:spPr>
      </p:sp>
      <p:sp>
        <p:nvSpPr>
          <p:cNvPr id="161" name="C0_xaxis"/>
          <p:cNvSpPr>
            <a:spLocks noGrp="1"/>
          </p:cNvSpPr>
          <p:nvPr/>
        </p:nvSpPr>
        <p:spPr>
          <a:xfrm>
            <a:off x="3672000" y="3456000"/>
            <a:ext cx="2592000" cy="36"/>
          </a:xfrm>
          <a:custGeom>
            <a:avLst/>
            <a:gdLst/>
            <a:ahLst/>
            <a:cxnLst/>
            <a:pathLst>
              <a:path w="2592000" h="36">
                <a:moveTo>
                  <a:pt x="0" y="0"/>
                </a:moveTo>
                <a:lnTo>
                  <a:pt x="2592000" y="0"/>
                </a:lnTo>
              </a:path>
            </a:pathLst>
          </a:custGeom>
          <a:noFill/>
          <a:ln w="8890">
            <a:solidFill>
              <a:srgbClr val="263746"/>
            </a:solidFill>
            <a:prstDash val="solid"/>
          </a:ln>
        </p:spPr>
      </p:sp>
      <p:sp>
        <p:nvSpPr>
          <p:cNvPr id="162" name="C0_xtick_0"/>
          <p:cNvSpPr>
            <a:spLocks noGrp="1"/>
          </p:cNvSpPr>
          <p:nvPr/>
        </p:nvSpPr>
        <p:spPr>
          <a:xfrm>
            <a:off x="3672000" y="3456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63" name="C0_xlabel_0"/>
          <p:cNvSpPr>
            <a:spLocks noGrp="1"/>
          </p:cNvSpPr>
          <p:nvPr/>
        </p:nvSpPr>
        <p:spPr>
          <a:xfrm>
            <a:off x="3492000" y="3493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08:30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64" name="C0_xtick_1"/>
          <p:cNvSpPr>
            <a:spLocks noGrp="1"/>
          </p:cNvSpPr>
          <p:nvPr/>
        </p:nvSpPr>
        <p:spPr>
          <a:xfrm>
            <a:off x="4536000" y="3456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65" name="C0_xlabel_1"/>
          <p:cNvSpPr>
            <a:spLocks noGrp="1"/>
          </p:cNvSpPr>
          <p:nvPr/>
        </p:nvSpPr>
        <p:spPr>
          <a:xfrm>
            <a:off x="4356000" y="3493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09:30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66" name="C0_xtick_2"/>
          <p:cNvSpPr>
            <a:spLocks noGrp="1"/>
          </p:cNvSpPr>
          <p:nvPr/>
        </p:nvSpPr>
        <p:spPr>
          <a:xfrm>
            <a:off x="5400000" y="3456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67" name="C0_xlabel_2"/>
          <p:cNvSpPr>
            <a:spLocks noGrp="1"/>
          </p:cNvSpPr>
          <p:nvPr/>
        </p:nvSpPr>
        <p:spPr>
          <a:xfrm>
            <a:off x="5220000" y="3493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10:30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68" name="C0_xtick_3"/>
          <p:cNvSpPr>
            <a:spLocks noGrp="1"/>
          </p:cNvSpPr>
          <p:nvPr/>
        </p:nvSpPr>
        <p:spPr>
          <a:xfrm>
            <a:off x="6264000" y="3456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69" name="C0_xlabel_3"/>
          <p:cNvSpPr>
            <a:spLocks noGrp="1"/>
          </p:cNvSpPr>
          <p:nvPr/>
        </p:nvSpPr>
        <p:spPr>
          <a:xfrm>
            <a:off x="6084000" y="3493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11:30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70" name="C0_t0"/>
          <p:cNvSpPr>
            <a:spLocks noGrp="1"/>
          </p:cNvSpPr>
          <p:nvPr/>
        </p:nvSpPr>
        <p:spPr>
          <a:xfrm>
            <a:off x="5400000" y="2664000"/>
            <a:ext cx="36" cy="792000"/>
          </a:xfrm>
          <a:custGeom>
            <a:avLst/>
            <a:gdLst/>
            <a:ahLst/>
            <a:cxnLst/>
            <a:pathLst>
              <a:path w="36" h="792000">
                <a:moveTo>
                  <a:pt x="0" y="0"/>
                </a:moveTo>
                <a:lnTo>
                  <a:pt x="0" y="792000"/>
                </a:lnTo>
              </a:path>
            </a:pathLst>
          </a:custGeom>
          <a:noFill/>
          <a:ln w="8255">
            <a:solidFill>
              <a:srgbClr val="788894"/>
            </a:solidFill>
            <a:prstDash val="dash"/>
          </a:ln>
        </p:spPr>
      </p:sp>
      <p:sp>
        <p:nvSpPr>
          <p:cNvPr id="171" name="C0_far_boundary"/>
          <p:cNvSpPr>
            <a:spLocks noGrp="1"/>
          </p:cNvSpPr>
          <p:nvPr/>
        </p:nvSpPr>
        <p:spPr>
          <a:xfrm>
            <a:off x="5832000" y="2664000"/>
            <a:ext cx="36" cy="792000"/>
          </a:xfrm>
          <a:custGeom>
            <a:avLst/>
            <a:gdLst/>
            <a:ahLst/>
            <a:cxnLst/>
            <a:pathLst>
              <a:path w="36" h="792000">
                <a:moveTo>
                  <a:pt x="0" y="0"/>
                </a:moveTo>
                <a:lnTo>
                  <a:pt x="0" y="792000"/>
                </a:lnTo>
              </a:path>
            </a:pathLst>
          </a:custGeom>
          <a:noFill/>
          <a:ln w="5080">
            <a:solidFill>
              <a:srgbClr val="CFD7DD"/>
            </a:solidFill>
            <a:prstDash val="solid"/>
          </a:ln>
        </p:spPr>
      </p:sp>
      <p:graphicFrame>
        <p:nvGraphicFramePr>
          <p:cNvPr id="172" name="Chart"/>
          <p:cNvGraphicFramePr/>
          <p:nvPr/>
        </p:nvGraphicFramePr>
        <p:xfrm>
          <a:off x="3672000" y="2664000"/>
          <a:ext cx="2592000" cy="792000"/>
        </p:xfrm>
        <a:graphic>
          <a:graphicData uri="http://schemas.openxmlformats.org/drawingml/2006/chart">
            <c:chart xmlns:c="http://schemas.openxmlformats.org/drawingml/2006/chart" xmlns:r="http://schemas.openxmlformats.org/officeDocument/2006/relationships" r:id="rId4"/>
          </a:graphicData>
        </a:graphic>
      </p:graphicFrame>
      <p:sp>
        <p:nvSpPr>
          <p:cNvPr id="173" name="C0_history_scope"/>
          <p:cNvSpPr>
            <a:spLocks noGrp="1"/>
          </p:cNvSpPr>
          <p:nvPr/>
        </p:nvSpPr>
        <p:spPr>
          <a:xfrm>
            <a:off x="3672000" y="2503549"/>
            <a:ext cx="1728000" cy="104902"/>
          </a:xfrm>
          <a:prstGeom prst="rect">
            <a:avLst/>
          </a:prstGeom>
          <a:noFill/>
          <a:ln w="0">
            <a:noFill/>
            <a:prstDash val="solid"/>
          </a:ln>
        </p:spPr>
        <p:txBody>
          <a:bodyPr wrap="none" lIns="0" tIns="0" rIns="0" bIns="0" anchor="ctr">
            <a:noAutofit/>
          </a:bodyPr>
          <a:lstStyle>
            <a:defPPr algn="ctr">
              <a:defRPr sz="700" b="0" i="0">
                <a:solidFill>
                  <a:srgbClr val="657580"/>
                </a:solidFill>
                <a:latin typeface="Times New Roman" panose="02020603050405020304"/>
                <a:ea typeface="Times New Roman" panose="02020603050405020304"/>
                <a:cs typeface="Times New Roman" panose="02020603050405020304"/>
              </a:defRPr>
            </a:defPPr>
          </a:lstStyle>
          <a:p>
            <a:pPr algn="ctr">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Observed history</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174" name="C0_continuation_scope"/>
          <p:cNvSpPr>
            <a:spLocks noGrp="1"/>
          </p:cNvSpPr>
          <p:nvPr/>
        </p:nvSpPr>
        <p:spPr>
          <a:xfrm>
            <a:off x="5364000" y="2503549"/>
            <a:ext cx="936000" cy="104902"/>
          </a:xfrm>
          <a:prstGeom prst="rect">
            <a:avLst/>
          </a:prstGeom>
          <a:noFill/>
          <a:ln w="0">
            <a:noFill/>
            <a:prstDash val="solid"/>
          </a:ln>
        </p:spPr>
        <p:txBody>
          <a:bodyPr wrap="none" lIns="0" tIns="0" rIns="0" bIns="0" anchor="ctr">
            <a:noAutofit/>
          </a:bodyPr>
          <a:lstStyle>
            <a:defPPr algn="ctr">
              <a:defRPr sz="700" b="0" i="0">
                <a:solidFill>
                  <a:srgbClr val="657580"/>
                </a:solidFill>
                <a:latin typeface="Times New Roman" panose="02020603050405020304"/>
                <a:ea typeface="Times New Roman" panose="02020603050405020304"/>
                <a:cs typeface="Times New Roman" panose="02020603050405020304"/>
              </a:defRPr>
            </a:defPPr>
          </a:lstStyle>
          <a:p>
            <a:pPr algn="ctr">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Observed continuation</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175" name="C0_r"/>
          <p:cNvSpPr>
            <a:spLocks noGrp="1"/>
          </p:cNvSpPr>
          <p:nvPr/>
        </p:nvSpPr>
        <p:spPr>
          <a:xfrm>
            <a:off x="3772800" y="2666989"/>
            <a:ext cx="1080000" cy="104902"/>
          </a:xfrm>
          <a:prstGeom prst="rect">
            <a:avLst/>
          </a:prstGeom>
          <a:noFill/>
          <a:ln w="0">
            <a:noFill/>
            <a:prstDash val="solid"/>
          </a:ln>
        </p:spPr>
        <p:txBody>
          <a:bodyPr wrap="none" lIns="0" tIns="0" rIns="0" bIns="0" anchor="ctr">
            <a:noAutofit/>
          </a:bodyPr>
          <a:lstStyle>
            <a:defPPr algn="l">
              <a:defRPr sz="700" b="0" i="0">
                <a:solidFill>
                  <a:srgbClr val="657580"/>
                </a:solidFill>
                <a:latin typeface="Times New Roman" panose="02020603050405020304"/>
                <a:ea typeface="Times New Roman" panose="02020603050405020304"/>
                <a:cs typeface="Times New Roman" panose="02020603050405020304"/>
              </a:defRPr>
            </a:defPPr>
          </a:lstStyle>
          <a:p>
            <a:pPr algn="l">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r = 0.859</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176" name="C0_Near_title"/>
          <p:cNvSpPr>
            <a:spLocks noGrp="1"/>
          </p:cNvSpPr>
          <p:nvPr/>
        </p:nvSpPr>
        <p:spPr>
          <a:xfrm>
            <a:off x="5400000" y="2678869"/>
            <a:ext cx="432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Near</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77" name="C0_Near_delta"/>
          <p:cNvSpPr>
            <a:spLocks noGrp="1"/>
          </p:cNvSpPr>
          <p:nvPr/>
        </p:nvSpPr>
        <p:spPr>
          <a:xfrm>
            <a:off x="5400000" y="2769949"/>
            <a:ext cx="432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Δ = 0.0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78" name="C0_Far_title"/>
          <p:cNvSpPr>
            <a:spLocks noGrp="1"/>
          </p:cNvSpPr>
          <p:nvPr/>
        </p:nvSpPr>
        <p:spPr>
          <a:xfrm>
            <a:off x="5832000" y="2678869"/>
            <a:ext cx="432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Far</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79" name="C0_Far_delta"/>
          <p:cNvSpPr>
            <a:spLocks noGrp="1"/>
          </p:cNvSpPr>
          <p:nvPr/>
        </p:nvSpPr>
        <p:spPr>
          <a:xfrm>
            <a:off x="5832000" y="2769949"/>
            <a:ext cx="432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Δ = 0.5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80" name="C1_near"/>
          <p:cNvSpPr>
            <a:spLocks noGrp="1"/>
          </p:cNvSpPr>
          <p:nvPr/>
        </p:nvSpPr>
        <p:spPr>
          <a:xfrm>
            <a:off x="5400000" y="4320000"/>
            <a:ext cx="432000" cy="792000"/>
          </a:xfrm>
          <a:prstGeom prst="rect">
            <a:avLst/>
          </a:prstGeom>
          <a:solidFill>
            <a:srgbClr val="F3F5F6"/>
          </a:solidFill>
          <a:ln w="0">
            <a:noFill/>
            <a:prstDash val="solid"/>
          </a:ln>
        </p:spPr>
      </p:sp>
      <p:sp>
        <p:nvSpPr>
          <p:cNvPr id="181" name="C1_far"/>
          <p:cNvSpPr>
            <a:spLocks noGrp="1"/>
          </p:cNvSpPr>
          <p:nvPr/>
        </p:nvSpPr>
        <p:spPr>
          <a:xfrm>
            <a:off x="5832000" y="4320000"/>
            <a:ext cx="432000" cy="792000"/>
          </a:xfrm>
          <a:prstGeom prst="rect">
            <a:avLst/>
          </a:prstGeom>
          <a:solidFill>
            <a:srgbClr val="E7EBEE"/>
          </a:solidFill>
          <a:ln w="0">
            <a:noFill/>
            <a:prstDash val="solid"/>
          </a:ln>
        </p:spPr>
      </p:sp>
      <p:sp>
        <p:nvSpPr>
          <p:cNvPr id="182" name="C1_ytick_0"/>
          <p:cNvSpPr>
            <a:spLocks noGrp="1"/>
          </p:cNvSpPr>
          <p:nvPr/>
        </p:nvSpPr>
        <p:spPr>
          <a:xfrm>
            <a:off x="3641400" y="5112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83" name="C1_ylabel_0"/>
          <p:cNvSpPr>
            <a:spLocks noGrp="1"/>
          </p:cNvSpPr>
          <p:nvPr/>
        </p:nvSpPr>
        <p:spPr>
          <a:xfrm>
            <a:off x="3441600" y="5059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84" name="C1_grid_5"/>
          <p:cNvSpPr>
            <a:spLocks noGrp="1"/>
          </p:cNvSpPr>
          <p:nvPr/>
        </p:nvSpPr>
        <p:spPr>
          <a:xfrm>
            <a:off x="3672000" y="4914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85" name="C1_ytick_5"/>
          <p:cNvSpPr>
            <a:spLocks noGrp="1"/>
          </p:cNvSpPr>
          <p:nvPr/>
        </p:nvSpPr>
        <p:spPr>
          <a:xfrm>
            <a:off x="3641400" y="4914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86" name="C1_ylabel_5"/>
          <p:cNvSpPr>
            <a:spLocks noGrp="1"/>
          </p:cNvSpPr>
          <p:nvPr/>
        </p:nvSpPr>
        <p:spPr>
          <a:xfrm>
            <a:off x="3441600" y="4861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87" name="C1_grid_10"/>
          <p:cNvSpPr>
            <a:spLocks noGrp="1"/>
          </p:cNvSpPr>
          <p:nvPr/>
        </p:nvSpPr>
        <p:spPr>
          <a:xfrm>
            <a:off x="3672000" y="4716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88" name="C1_ytick_10"/>
          <p:cNvSpPr>
            <a:spLocks noGrp="1"/>
          </p:cNvSpPr>
          <p:nvPr/>
        </p:nvSpPr>
        <p:spPr>
          <a:xfrm>
            <a:off x="3641400" y="4716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89" name="C1_ylabel_10"/>
          <p:cNvSpPr>
            <a:spLocks noGrp="1"/>
          </p:cNvSpPr>
          <p:nvPr/>
        </p:nvSpPr>
        <p:spPr>
          <a:xfrm>
            <a:off x="3441600" y="4663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90" name="C1_grid_15"/>
          <p:cNvSpPr>
            <a:spLocks noGrp="1"/>
          </p:cNvSpPr>
          <p:nvPr/>
        </p:nvSpPr>
        <p:spPr>
          <a:xfrm>
            <a:off x="3672000" y="4518000"/>
            <a:ext cx="1728000" cy="36"/>
          </a:xfrm>
          <a:custGeom>
            <a:avLst/>
            <a:gdLst/>
            <a:ahLst/>
            <a:cxnLst/>
            <a:pathLst>
              <a:path w="1728000" h="36">
                <a:moveTo>
                  <a:pt x="0" y="0"/>
                </a:moveTo>
                <a:lnTo>
                  <a:pt x="1728000" y="0"/>
                </a:lnTo>
              </a:path>
            </a:pathLst>
          </a:custGeom>
          <a:noFill/>
          <a:ln w="4445">
            <a:solidFill>
              <a:srgbClr val="E0E6EB"/>
            </a:solidFill>
            <a:prstDash val="solid"/>
          </a:ln>
        </p:spPr>
      </p:sp>
      <p:sp>
        <p:nvSpPr>
          <p:cNvPr id="191" name="C1_ytick_15"/>
          <p:cNvSpPr>
            <a:spLocks noGrp="1"/>
          </p:cNvSpPr>
          <p:nvPr/>
        </p:nvSpPr>
        <p:spPr>
          <a:xfrm>
            <a:off x="3641400" y="4518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92" name="C1_ylabel_15"/>
          <p:cNvSpPr>
            <a:spLocks noGrp="1"/>
          </p:cNvSpPr>
          <p:nvPr/>
        </p:nvSpPr>
        <p:spPr>
          <a:xfrm>
            <a:off x="3441600" y="4465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93" name="C1_grid_20"/>
          <p:cNvSpPr>
            <a:spLocks noGrp="1"/>
          </p:cNvSpPr>
          <p:nvPr/>
        </p:nvSpPr>
        <p:spPr>
          <a:xfrm>
            <a:off x="3672000" y="4320000"/>
            <a:ext cx="2592000" cy="36"/>
          </a:xfrm>
          <a:custGeom>
            <a:avLst/>
            <a:gdLst/>
            <a:ahLst/>
            <a:cxnLst/>
            <a:pathLst>
              <a:path w="2592000" h="36">
                <a:moveTo>
                  <a:pt x="0" y="0"/>
                </a:moveTo>
                <a:lnTo>
                  <a:pt x="2592000" y="0"/>
                </a:lnTo>
              </a:path>
            </a:pathLst>
          </a:custGeom>
          <a:noFill/>
          <a:ln w="4445">
            <a:solidFill>
              <a:srgbClr val="E0E6EB"/>
            </a:solidFill>
            <a:prstDash val="solid"/>
          </a:ln>
        </p:spPr>
      </p:sp>
      <p:sp>
        <p:nvSpPr>
          <p:cNvPr id="194" name="C1_ytick_20"/>
          <p:cNvSpPr>
            <a:spLocks noGrp="1"/>
          </p:cNvSpPr>
          <p:nvPr/>
        </p:nvSpPr>
        <p:spPr>
          <a:xfrm>
            <a:off x="3641400" y="4320000"/>
            <a:ext cx="30600" cy="36"/>
          </a:xfrm>
          <a:custGeom>
            <a:avLst/>
            <a:gdLst/>
            <a:ahLst/>
            <a:cxnLst/>
            <a:pathLst>
              <a:path w="30600" h="36">
                <a:moveTo>
                  <a:pt x="0" y="0"/>
                </a:moveTo>
                <a:lnTo>
                  <a:pt x="30600" y="0"/>
                </a:lnTo>
              </a:path>
            </a:pathLst>
          </a:custGeom>
          <a:noFill/>
          <a:ln w="8255">
            <a:solidFill>
              <a:srgbClr val="263746"/>
            </a:solidFill>
            <a:prstDash val="solid"/>
          </a:ln>
        </p:spPr>
      </p:sp>
      <p:sp>
        <p:nvSpPr>
          <p:cNvPr id="195" name="C1_ylabel_20"/>
          <p:cNvSpPr>
            <a:spLocks noGrp="1"/>
          </p:cNvSpPr>
          <p:nvPr/>
        </p:nvSpPr>
        <p:spPr>
          <a:xfrm>
            <a:off x="3441600" y="4267549"/>
            <a:ext cx="180000" cy="104902"/>
          </a:xfrm>
          <a:prstGeom prst="rect">
            <a:avLst/>
          </a:prstGeom>
          <a:noFill/>
          <a:ln w="0">
            <a:noFill/>
            <a:prstDash val="solid"/>
          </a:ln>
        </p:spPr>
        <p:txBody>
          <a:bodyPr wrap="none" lIns="0" tIns="0" rIns="0" bIns="0" anchor="ctr">
            <a:noAutofit/>
          </a:bodyPr>
          <a:lstStyle>
            <a:defPPr algn="r">
              <a:defRPr sz="700" b="0" i="0">
                <a:solidFill>
                  <a:srgbClr val="263746"/>
                </a:solidFill>
                <a:latin typeface="Times New Roman" panose="02020603050405020304"/>
                <a:ea typeface="Times New Roman" panose="02020603050405020304"/>
                <a:cs typeface="Times New Roman" panose="02020603050405020304"/>
              </a:defRPr>
            </a:defPPr>
          </a:lstStyle>
          <a:p>
            <a:pPr algn="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20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196" name="C1_yaxis"/>
          <p:cNvSpPr>
            <a:spLocks noGrp="1"/>
          </p:cNvSpPr>
          <p:nvPr/>
        </p:nvSpPr>
        <p:spPr>
          <a:xfrm>
            <a:off x="3672000" y="4320000"/>
            <a:ext cx="36" cy="792000"/>
          </a:xfrm>
          <a:custGeom>
            <a:avLst/>
            <a:gdLst/>
            <a:ahLst/>
            <a:cxnLst/>
            <a:pathLst>
              <a:path w="36" h="792000">
                <a:moveTo>
                  <a:pt x="0" y="0"/>
                </a:moveTo>
                <a:lnTo>
                  <a:pt x="0" y="792000"/>
                </a:lnTo>
              </a:path>
            </a:pathLst>
          </a:custGeom>
          <a:noFill/>
          <a:ln w="8890">
            <a:solidFill>
              <a:srgbClr val="263746"/>
            </a:solidFill>
            <a:prstDash val="solid"/>
          </a:ln>
        </p:spPr>
      </p:sp>
      <p:sp>
        <p:nvSpPr>
          <p:cNvPr id="197" name="C1_xaxis"/>
          <p:cNvSpPr>
            <a:spLocks noGrp="1"/>
          </p:cNvSpPr>
          <p:nvPr/>
        </p:nvSpPr>
        <p:spPr>
          <a:xfrm>
            <a:off x="3672000" y="5112000"/>
            <a:ext cx="2592000" cy="36"/>
          </a:xfrm>
          <a:custGeom>
            <a:avLst/>
            <a:gdLst/>
            <a:ahLst/>
            <a:cxnLst/>
            <a:pathLst>
              <a:path w="2592000" h="36">
                <a:moveTo>
                  <a:pt x="0" y="0"/>
                </a:moveTo>
                <a:lnTo>
                  <a:pt x="2592000" y="0"/>
                </a:lnTo>
              </a:path>
            </a:pathLst>
          </a:custGeom>
          <a:noFill/>
          <a:ln w="8890">
            <a:solidFill>
              <a:srgbClr val="263746"/>
            </a:solidFill>
            <a:prstDash val="solid"/>
          </a:ln>
        </p:spPr>
      </p:sp>
      <p:sp>
        <p:nvSpPr>
          <p:cNvPr id="198" name="C1_xtick_0"/>
          <p:cNvSpPr>
            <a:spLocks noGrp="1"/>
          </p:cNvSpPr>
          <p:nvPr/>
        </p:nvSpPr>
        <p:spPr>
          <a:xfrm>
            <a:off x="3672000" y="51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199" name="C1_xlabel_0"/>
          <p:cNvSpPr>
            <a:spLocks noGrp="1"/>
          </p:cNvSpPr>
          <p:nvPr/>
        </p:nvSpPr>
        <p:spPr>
          <a:xfrm>
            <a:off x="3492000" y="5149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06:15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200" name="C1_xtick_1"/>
          <p:cNvSpPr>
            <a:spLocks noGrp="1"/>
          </p:cNvSpPr>
          <p:nvPr/>
        </p:nvSpPr>
        <p:spPr>
          <a:xfrm>
            <a:off x="4536000" y="51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201" name="C1_xlabel_1"/>
          <p:cNvSpPr>
            <a:spLocks noGrp="1"/>
          </p:cNvSpPr>
          <p:nvPr/>
        </p:nvSpPr>
        <p:spPr>
          <a:xfrm>
            <a:off x="4356000" y="5149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07:15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202" name="C1_xtick_2"/>
          <p:cNvSpPr>
            <a:spLocks noGrp="1"/>
          </p:cNvSpPr>
          <p:nvPr/>
        </p:nvSpPr>
        <p:spPr>
          <a:xfrm>
            <a:off x="5400000" y="51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203" name="C1_xlabel_2"/>
          <p:cNvSpPr>
            <a:spLocks noGrp="1"/>
          </p:cNvSpPr>
          <p:nvPr/>
        </p:nvSpPr>
        <p:spPr>
          <a:xfrm>
            <a:off x="5220000" y="5149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08:15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204" name="C1_xtick_3"/>
          <p:cNvSpPr>
            <a:spLocks noGrp="1"/>
          </p:cNvSpPr>
          <p:nvPr/>
        </p:nvSpPr>
        <p:spPr>
          <a:xfrm>
            <a:off x="6264000" y="5112000"/>
            <a:ext cx="36" cy="30600"/>
          </a:xfrm>
          <a:custGeom>
            <a:avLst/>
            <a:gdLst/>
            <a:ahLst/>
            <a:cxnLst/>
            <a:pathLst>
              <a:path w="36" h="30600">
                <a:moveTo>
                  <a:pt x="0" y="0"/>
                </a:moveTo>
                <a:lnTo>
                  <a:pt x="0" y="30600"/>
                </a:lnTo>
              </a:path>
            </a:pathLst>
          </a:custGeom>
          <a:noFill/>
          <a:ln w="8255">
            <a:solidFill>
              <a:srgbClr val="263746"/>
            </a:solidFill>
            <a:prstDash val="solid"/>
          </a:ln>
        </p:spPr>
      </p:sp>
      <p:sp>
        <p:nvSpPr>
          <p:cNvPr id="205" name="C1_xlabel_3"/>
          <p:cNvSpPr>
            <a:spLocks noGrp="1"/>
          </p:cNvSpPr>
          <p:nvPr/>
        </p:nvSpPr>
        <p:spPr>
          <a:xfrm>
            <a:off x="6084000" y="5149549"/>
            <a:ext cx="360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09:15</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206" name="C1_t0"/>
          <p:cNvSpPr>
            <a:spLocks noGrp="1"/>
          </p:cNvSpPr>
          <p:nvPr/>
        </p:nvSpPr>
        <p:spPr>
          <a:xfrm>
            <a:off x="5400000" y="4320000"/>
            <a:ext cx="36" cy="792000"/>
          </a:xfrm>
          <a:custGeom>
            <a:avLst/>
            <a:gdLst/>
            <a:ahLst/>
            <a:cxnLst/>
            <a:pathLst>
              <a:path w="36" h="792000">
                <a:moveTo>
                  <a:pt x="0" y="0"/>
                </a:moveTo>
                <a:lnTo>
                  <a:pt x="0" y="792000"/>
                </a:lnTo>
              </a:path>
            </a:pathLst>
          </a:custGeom>
          <a:noFill/>
          <a:ln w="8255">
            <a:solidFill>
              <a:srgbClr val="788894"/>
            </a:solidFill>
            <a:prstDash val="dash"/>
          </a:ln>
        </p:spPr>
      </p:sp>
      <p:sp>
        <p:nvSpPr>
          <p:cNvPr id="207" name="C1_far_boundary"/>
          <p:cNvSpPr>
            <a:spLocks noGrp="1"/>
          </p:cNvSpPr>
          <p:nvPr/>
        </p:nvSpPr>
        <p:spPr>
          <a:xfrm>
            <a:off x="5832000" y="4320000"/>
            <a:ext cx="36" cy="792000"/>
          </a:xfrm>
          <a:custGeom>
            <a:avLst/>
            <a:gdLst/>
            <a:ahLst/>
            <a:cxnLst/>
            <a:pathLst>
              <a:path w="36" h="792000">
                <a:moveTo>
                  <a:pt x="0" y="0"/>
                </a:moveTo>
                <a:lnTo>
                  <a:pt x="0" y="792000"/>
                </a:lnTo>
              </a:path>
            </a:pathLst>
          </a:custGeom>
          <a:noFill/>
          <a:ln w="5080">
            <a:solidFill>
              <a:srgbClr val="CFD7DD"/>
            </a:solidFill>
            <a:prstDash val="solid"/>
          </a:ln>
        </p:spPr>
      </p:sp>
      <p:graphicFrame>
        <p:nvGraphicFramePr>
          <p:cNvPr id="208" name="Chart"/>
          <p:cNvGraphicFramePr/>
          <p:nvPr/>
        </p:nvGraphicFramePr>
        <p:xfrm>
          <a:off x="3672000" y="4320000"/>
          <a:ext cx="2592000" cy="792000"/>
        </p:xfrm>
        <a:graphic>
          <a:graphicData uri="http://schemas.openxmlformats.org/drawingml/2006/chart">
            <c:chart xmlns:c="http://schemas.openxmlformats.org/drawingml/2006/chart" xmlns:r="http://schemas.openxmlformats.org/officeDocument/2006/relationships" r:id="rId5"/>
          </a:graphicData>
        </a:graphic>
      </p:graphicFrame>
      <p:sp>
        <p:nvSpPr>
          <p:cNvPr id="209" name="C1_history_scope"/>
          <p:cNvSpPr>
            <a:spLocks noGrp="1"/>
          </p:cNvSpPr>
          <p:nvPr/>
        </p:nvSpPr>
        <p:spPr>
          <a:xfrm>
            <a:off x="3672000" y="4159549"/>
            <a:ext cx="1728000" cy="104902"/>
          </a:xfrm>
          <a:prstGeom prst="rect">
            <a:avLst/>
          </a:prstGeom>
          <a:noFill/>
          <a:ln w="0">
            <a:noFill/>
            <a:prstDash val="solid"/>
          </a:ln>
        </p:spPr>
        <p:txBody>
          <a:bodyPr wrap="none" lIns="0" tIns="0" rIns="0" bIns="0" anchor="ctr">
            <a:noAutofit/>
          </a:bodyPr>
          <a:lstStyle>
            <a:defPPr algn="ctr">
              <a:defRPr sz="700" b="0" i="0">
                <a:solidFill>
                  <a:srgbClr val="657580"/>
                </a:solidFill>
                <a:latin typeface="Times New Roman" panose="02020603050405020304"/>
                <a:ea typeface="Times New Roman" panose="02020603050405020304"/>
                <a:cs typeface="Times New Roman" panose="02020603050405020304"/>
              </a:defRPr>
            </a:defPPr>
          </a:lstStyle>
          <a:p>
            <a:pPr algn="ctr">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Observed history</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210" name="C1_continuation_scope"/>
          <p:cNvSpPr>
            <a:spLocks noGrp="1"/>
          </p:cNvSpPr>
          <p:nvPr/>
        </p:nvSpPr>
        <p:spPr>
          <a:xfrm>
            <a:off x="5364000" y="4159549"/>
            <a:ext cx="936000" cy="104902"/>
          </a:xfrm>
          <a:prstGeom prst="rect">
            <a:avLst/>
          </a:prstGeom>
          <a:noFill/>
          <a:ln w="0">
            <a:noFill/>
            <a:prstDash val="solid"/>
          </a:ln>
        </p:spPr>
        <p:txBody>
          <a:bodyPr wrap="none" lIns="0" tIns="0" rIns="0" bIns="0" anchor="ctr">
            <a:noAutofit/>
          </a:bodyPr>
          <a:lstStyle>
            <a:defPPr algn="ctr">
              <a:defRPr sz="700" b="0" i="0">
                <a:solidFill>
                  <a:srgbClr val="657580"/>
                </a:solidFill>
                <a:latin typeface="Times New Roman" panose="02020603050405020304"/>
                <a:ea typeface="Times New Roman" panose="02020603050405020304"/>
                <a:cs typeface="Times New Roman" panose="02020603050405020304"/>
              </a:defRPr>
            </a:defPPr>
          </a:lstStyle>
          <a:p>
            <a:pPr algn="ctr">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Observed continuation</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211" name="C1_r"/>
          <p:cNvSpPr>
            <a:spLocks noGrp="1"/>
          </p:cNvSpPr>
          <p:nvPr/>
        </p:nvSpPr>
        <p:spPr>
          <a:xfrm>
            <a:off x="3772800" y="4322989"/>
            <a:ext cx="1080000" cy="104902"/>
          </a:xfrm>
          <a:prstGeom prst="rect">
            <a:avLst/>
          </a:prstGeom>
          <a:noFill/>
          <a:ln w="0">
            <a:noFill/>
            <a:prstDash val="solid"/>
          </a:ln>
        </p:spPr>
        <p:txBody>
          <a:bodyPr wrap="none" lIns="0" tIns="0" rIns="0" bIns="0" anchor="ctr">
            <a:noAutofit/>
          </a:bodyPr>
          <a:lstStyle>
            <a:defPPr algn="l">
              <a:defRPr sz="700" b="0" i="0">
                <a:solidFill>
                  <a:srgbClr val="657580"/>
                </a:solidFill>
                <a:latin typeface="Times New Roman" panose="02020603050405020304"/>
                <a:ea typeface="Times New Roman" panose="02020603050405020304"/>
                <a:cs typeface="Times New Roman" panose="02020603050405020304"/>
              </a:defRPr>
            </a:defPPr>
          </a:lstStyle>
          <a:p>
            <a:pPr algn="l">
              <a:defRPr sz="700" b="0" i="0">
                <a:solidFill>
                  <a:srgbClr val="657580"/>
                </a:solidFill>
                <a:latin typeface="Times New Roman" panose="02020603050405020304"/>
                <a:ea typeface="Times New Roman" panose="02020603050405020304"/>
                <a:cs typeface="Times New Roman" panose="02020603050405020304"/>
              </a:defRPr>
            </a:pPr>
            <a:r>
              <a:rPr sz="700" b="0" i="0">
                <a:solidFill>
                  <a:srgbClr val="657580"/>
                </a:solidFill>
                <a:latin typeface="Times New Roman" panose="02020603050405020304"/>
                <a:ea typeface="Times New Roman" panose="02020603050405020304"/>
                <a:cs typeface="Times New Roman" panose="02020603050405020304"/>
              </a:rPr>
              <a:t>r = 0.907</a:t>
            </a:r>
            <a:endParaRPr sz="700" b="0" i="0">
              <a:solidFill>
                <a:srgbClr val="657580"/>
              </a:solidFill>
              <a:latin typeface="Times New Roman" panose="02020603050405020304"/>
              <a:ea typeface="Times New Roman" panose="02020603050405020304"/>
              <a:cs typeface="Times New Roman" panose="02020603050405020304"/>
            </a:endParaRPr>
          </a:p>
        </p:txBody>
      </p:sp>
      <p:sp>
        <p:nvSpPr>
          <p:cNvPr id="212" name="C1_Near_title"/>
          <p:cNvSpPr>
            <a:spLocks noGrp="1"/>
          </p:cNvSpPr>
          <p:nvPr/>
        </p:nvSpPr>
        <p:spPr>
          <a:xfrm>
            <a:off x="5400000" y="4334869"/>
            <a:ext cx="432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Near</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213" name="C1_Near_delta"/>
          <p:cNvSpPr>
            <a:spLocks noGrp="1"/>
          </p:cNvSpPr>
          <p:nvPr/>
        </p:nvSpPr>
        <p:spPr>
          <a:xfrm>
            <a:off x="5400000" y="4425949"/>
            <a:ext cx="432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Δ = 2.0</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214" name="C1_Far_title"/>
          <p:cNvSpPr>
            <a:spLocks noGrp="1"/>
          </p:cNvSpPr>
          <p:nvPr/>
        </p:nvSpPr>
        <p:spPr>
          <a:xfrm>
            <a:off x="5832000" y="4334869"/>
            <a:ext cx="432000" cy="104902"/>
          </a:xfrm>
          <a:prstGeom prst="rect">
            <a:avLst/>
          </a:prstGeom>
          <a:noFill/>
          <a:ln w="0">
            <a:noFill/>
            <a:prstDash val="solid"/>
          </a:ln>
        </p:spPr>
        <p:txBody>
          <a:bodyPr wrap="none" lIns="0" tIns="0" rIns="0" bIns="0" anchor="ctr">
            <a:noAutofit/>
          </a:bodyPr>
          <a:lstStyle>
            <a:defPPr algn="ctr">
              <a:defRPr sz="700" b="0" i="0">
                <a:solidFill>
                  <a:srgbClr val="263746"/>
                </a:solidFill>
                <a:latin typeface="Times New Roman" panose="02020603050405020304"/>
                <a:ea typeface="Times New Roman" panose="02020603050405020304"/>
                <a:cs typeface="Times New Roman" panose="02020603050405020304"/>
              </a:defRPr>
            </a:defPPr>
          </a:lstStyle>
          <a:p>
            <a:pPr algn="ctr">
              <a:defRPr sz="700" b="0" i="0">
                <a:solidFill>
                  <a:srgbClr val="263746"/>
                </a:solidFill>
                <a:latin typeface="Times New Roman" panose="02020603050405020304"/>
                <a:ea typeface="Times New Roman" panose="02020603050405020304"/>
                <a:cs typeface="Times New Roman" panose="02020603050405020304"/>
              </a:defRPr>
            </a:pPr>
            <a:r>
              <a:rPr sz="700" b="0" i="0">
                <a:solidFill>
                  <a:srgbClr val="263746"/>
                </a:solidFill>
                <a:latin typeface="Times New Roman" panose="02020603050405020304"/>
                <a:ea typeface="Times New Roman" panose="02020603050405020304"/>
                <a:cs typeface="Times New Roman" panose="02020603050405020304"/>
              </a:rPr>
              <a:t>Far</a:t>
            </a:r>
            <a:endParaRPr sz="700" b="0" i="0">
              <a:solidFill>
                <a:srgbClr val="263746"/>
              </a:solidFill>
              <a:latin typeface="Times New Roman" panose="02020603050405020304"/>
              <a:ea typeface="Times New Roman" panose="02020603050405020304"/>
              <a:cs typeface="Times New Roman" panose="02020603050405020304"/>
            </a:endParaRPr>
          </a:p>
        </p:txBody>
      </p:sp>
      <p:sp>
        <p:nvSpPr>
          <p:cNvPr id="215" name="C1_Far_delta"/>
          <p:cNvSpPr>
            <a:spLocks noGrp="1"/>
          </p:cNvSpPr>
          <p:nvPr/>
        </p:nvSpPr>
        <p:spPr>
          <a:xfrm>
            <a:off x="5832000" y="4425949"/>
            <a:ext cx="432000" cy="104902"/>
          </a:xfrm>
          <a:prstGeom prst="rect">
            <a:avLst/>
          </a:prstGeom>
          <a:noFill/>
          <a:ln w="0">
            <a:noFill/>
            <a:prstDash val="solid"/>
          </a:ln>
        </p:spPr>
        <p:txBody>
          <a:bodyPr wrap="none" lIns="0" tIns="0" rIns="0" bIns="0" anchor="ctr">
            <a:noAutofit/>
          </a:bodyPr>
          <a:lstStyle>
            <a:defPPr algn="ctr">
              <a:defRPr sz="700" b="1" i="0">
                <a:solidFill>
                  <a:srgbClr val="263746"/>
                </a:solidFill>
                <a:latin typeface="Times New Roman" panose="02020603050405020304"/>
                <a:ea typeface="Times New Roman" panose="02020603050405020304"/>
                <a:cs typeface="Times New Roman" panose="02020603050405020304"/>
              </a:defRPr>
            </a:defPPr>
          </a:lstStyle>
          <a:p>
            <a:pPr algn="ctr">
              <a:defRPr sz="700" b="1" i="0">
                <a:solidFill>
                  <a:srgbClr val="263746"/>
                </a:solidFill>
                <a:latin typeface="Times New Roman" panose="02020603050405020304"/>
                <a:ea typeface="Times New Roman" panose="02020603050405020304"/>
                <a:cs typeface="Times New Roman" panose="02020603050405020304"/>
              </a:defRPr>
            </a:pPr>
            <a:r>
              <a:rPr sz="700" b="1" i="0">
                <a:solidFill>
                  <a:srgbClr val="263746"/>
                </a:solidFill>
                <a:latin typeface="Times New Roman" panose="02020603050405020304"/>
                <a:ea typeface="Times New Roman" panose="02020603050405020304"/>
                <a:cs typeface="Times New Roman" panose="02020603050405020304"/>
              </a:rPr>
              <a:t>Δ = 6.0</a:t>
            </a:r>
            <a:endParaRPr sz="700" b="1" i="0">
              <a:solidFill>
                <a:srgbClr val="263746"/>
              </a:solidFill>
              <a:latin typeface="Times New Roman" panose="02020603050405020304"/>
              <a:ea typeface="Times New Roman" panose="02020603050405020304"/>
              <a:cs typeface="Times New Roman" panose="02020603050405020304"/>
            </a:endParaRPr>
          </a:p>
        </p:txBody>
      </p:sp>
      <p:sp>
        <p:nvSpPr>
          <p:cNvPr id="216" name="BC_vertical_unit"/>
          <p:cNvSpPr>
            <a:spLocks noGrp="1"/>
          </p:cNvSpPr>
          <p:nvPr/>
        </p:nvSpPr>
        <p:spPr>
          <a:xfrm>
            <a:off x="28800" y="3168000"/>
            <a:ext cx="122400" cy="1440000"/>
          </a:xfrm>
          <a:prstGeom prst="rect">
            <a:avLst/>
          </a:prstGeom>
          <a:noFill/>
          <a:ln w="0">
            <a:noFill/>
            <a:prstDash val="solid"/>
          </a:ln>
        </p:spPr>
        <p:txBody>
          <a:bodyPr vert="vert270" wrap="none" lIns="0" tIns="0" rIns="0" bIns="0" anchor="ctr">
            <a:noAutofit/>
          </a:bodyPr>
          <a:lstStyle>
            <a:defPPr algn="ctr">
              <a:defRPr sz="800" b="0" i="0">
                <a:solidFill>
                  <a:srgbClr val="263746"/>
                </a:solidFill>
                <a:latin typeface="Times New Roman" panose="02020603050405020304"/>
                <a:ea typeface="Times New Roman" panose="02020603050405020304"/>
                <a:cs typeface="Times New Roman" panose="02020603050405020304"/>
              </a:defRPr>
            </a:defPPr>
          </a:lstStyle>
          <a:p>
            <a:pPr algn="ctr">
              <a:defRPr sz="800" b="0" i="0">
                <a:solidFill>
                  <a:srgbClr val="263746"/>
                </a:solidFill>
                <a:latin typeface="Times New Roman" panose="02020603050405020304"/>
                <a:ea typeface="Times New Roman" panose="02020603050405020304"/>
                <a:cs typeface="Times New Roman" panose="02020603050405020304"/>
              </a:defRPr>
            </a:pPr>
            <a:r>
              <a:rPr sz="800" b="0" i="0">
                <a:solidFill>
                  <a:srgbClr val="263746"/>
                </a:solidFill>
                <a:latin typeface="Times New Roman" panose="02020603050405020304"/>
                <a:ea typeface="Times New Roman" panose="02020603050405020304"/>
                <a:cs typeface="Times New Roman" panose="02020603050405020304"/>
              </a:rPr>
              <a:t>Departures / 15 min</a:t>
            </a:r>
            <a:endParaRPr sz="800" b="0" i="0">
              <a:solidFill>
                <a:srgbClr val="263746"/>
              </a:solidFill>
              <a:latin typeface="Times New Roman" panose="02020603050405020304"/>
              <a:ea typeface="Times New Roman" panose="02020603050405020304"/>
              <a:cs typeface="Times New Roman" panose="02020603050405020304"/>
            </a:endParaRPr>
          </a:p>
        </p:txBody>
      </p:sp>
      <p:sp>
        <p:nvSpPr>
          <p:cNvPr id="217" name="B_time_label"/>
          <p:cNvSpPr>
            <a:spLocks noGrp="1"/>
          </p:cNvSpPr>
          <p:nvPr/>
        </p:nvSpPr>
        <p:spPr>
          <a:xfrm>
            <a:off x="216000" y="5307803"/>
            <a:ext cx="3024000" cy="112395"/>
          </a:xfrm>
          <a:prstGeom prst="rect">
            <a:avLst/>
          </a:prstGeom>
          <a:noFill/>
          <a:ln w="0">
            <a:noFill/>
            <a:prstDash val="solid"/>
          </a:ln>
        </p:spPr>
        <p:txBody>
          <a:bodyPr wrap="none" lIns="0" tIns="0" rIns="0" bIns="0" anchor="ctr">
            <a:noAutofit/>
          </a:bodyPr>
          <a:lstStyle>
            <a:defPPr algn="ctr">
              <a:defRPr sz="750" b="0" i="0">
                <a:solidFill>
                  <a:srgbClr val="657580"/>
                </a:solidFill>
                <a:latin typeface="Times New Roman" panose="02020603050405020304"/>
                <a:ea typeface="Times New Roman" panose="02020603050405020304"/>
                <a:cs typeface="Times New Roman" panose="02020603050405020304"/>
              </a:defRPr>
            </a:defPPr>
          </a:lstStyle>
          <a:p>
            <a:pPr algn="ctr">
              <a:defRPr sz="750" b="0" i="0">
                <a:solidFill>
                  <a:srgbClr val="657580"/>
                </a:solidFill>
                <a:latin typeface="Times New Roman" panose="02020603050405020304"/>
                <a:ea typeface="Times New Roman" panose="02020603050405020304"/>
                <a:cs typeface="Times New Roman" panose="02020603050405020304"/>
              </a:defRPr>
            </a:pPr>
            <a:r>
              <a:rPr sz="750" b="0" i="0">
                <a:solidFill>
                  <a:srgbClr val="657580"/>
                </a:solidFill>
                <a:latin typeface="Times New Roman" panose="02020603050405020304"/>
                <a:ea typeface="Times New Roman" panose="02020603050405020304"/>
                <a:cs typeface="Times New Roman" panose="02020603050405020304"/>
              </a:rPr>
              <a:t>Aligned target time (UTC+8)</a:t>
            </a:r>
            <a:endParaRPr sz="750" b="0" i="0">
              <a:solidFill>
                <a:srgbClr val="657580"/>
              </a:solidFill>
              <a:latin typeface="Times New Roman" panose="02020603050405020304"/>
              <a:ea typeface="Times New Roman" panose="02020603050405020304"/>
              <a:cs typeface="Times New Roman" panose="02020603050405020304"/>
            </a:endParaRPr>
          </a:p>
        </p:txBody>
      </p:sp>
      <p:sp>
        <p:nvSpPr>
          <p:cNvPr id="218" name="C_time_label"/>
          <p:cNvSpPr>
            <a:spLocks noGrp="1"/>
          </p:cNvSpPr>
          <p:nvPr/>
        </p:nvSpPr>
        <p:spPr>
          <a:xfrm>
            <a:off x="3456000" y="5307803"/>
            <a:ext cx="3024000" cy="112395"/>
          </a:xfrm>
          <a:prstGeom prst="rect">
            <a:avLst/>
          </a:prstGeom>
          <a:noFill/>
          <a:ln w="0">
            <a:noFill/>
            <a:prstDash val="solid"/>
          </a:ln>
        </p:spPr>
        <p:txBody>
          <a:bodyPr wrap="none" lIns="0" tIns="0" rIns="0" bIns="0" anchor="ctr">
            <a:noAutofit/>
          </a:bodyPr>
          <a:lstStyle>
            <a:defPPr algn="ctr">
              <a:defRPr sz="750" b="0" i="0">
                <a:solidFill>
                  <a:srgbClr val="657580"/>
                </a:solidFill>
                <a:latin typeface="Times New Roman" panose="02020603050405020304"/>
                <a:ea typeface="Times New Roman" panose="02020603050405020304"/>
                <a:cs typeface="Times New Roman" panose="02020603050405020304"/>
              </a:defRPr>
            </a:defPPr>
          </a:lstStyle>
          <a:p>
            <a:pPr algn="ctr">
              <a:defRPr sz="750" b="0" i="0">
                <a:solidFill>
                  <a:srgbClr val="657580"/>
                </a:solidFill>
                <a:latin typeface="Times New Roman" panose="02020603050405020304"/>
                <a:ea typeface="Times New Roman" panose="02020603050405020304"/>
                <a:cs typeface="Times New Roman" panose="02020603050405020304"/>
              </a:defRPr>
            </a:pPr>
            <a:r>
              <a:rPr sz="750" b="0" i="0">
                <a:solidFill>
                  <a:srgbClr val="657580"/>
                </a:solidFill>
                <a:latin typeface="Times New Roman" panose="02020603050405020304"/>
                <a:ea typeface="Times New Roman" panose="02020603050405020304"/>
                <a:cs typeface="Times New Roman" panose="02020603050405020304"/>
              </a:rPr>
              <a:t>Aligned target time (UTC+8)</a:t>
            </a:r>
            <a:endParaRPr sz="750" b="0" i="0">
              <a:solidFill>
                <a:srgbClr val="657580"/>
              </a:solidFill>
              <a:latin typeface="Times New Roman" panose="02020603050405020304"/>
              <a:ea typeface="Times New Roman" panose="02020603050405020304"/>
              <a:cs typeface="Times New Roman" panose="02020603050405020304"/>
            </a:endParaRPr>
          </a:p>
        </p:txBody>
      </p:sp>
      <p:sp>
        <p:nvSpPr>
          <p:cNvPr id="219" name="B_panel_caption"/>
          <p:cNvSpPr>
            <a:spLocks noGrp="1"/>
          </p:cNvSpPr>
          <p:nvPr/>
        </p:nvSpPr>
        <p:spPr>
          <a:xfrm>
            <a:off x="36000" y="5440563"/>
            <a:ext cx="3168000" cy="134874"/>
          </a:xfrm>
          <a:prstGeom prst="rect">
            <a:avLst/>
          </a:prstGeom>
          <a:noFill/>
          <a:ln w="0">
            <a:noFill/>
            <a:prstDash val="solid"/>
          </a:ln>
        </p:spPr>
        <p:txBody>
          <a:bodyPr wrap="none" lIns="0" tIns="0" rIns="0" bIns="0" anchor="ctr">
            <a:noAutofit/>
          </a:bodyPr>
          <a:lstStyle>
            <a:defPPr algn="ctr">
              <a:defRPr sz="900" b="1" i="0">
                <a:solidFill>
                  <a:srgbClr val="263746"/>
                </a:solidFill>
                <a:latin typeface="Times New Roman" panose="02020603050405020304"/>
                <a:ea typeface="Times New Roman" panose="02020603050405020304"/>
                <a:cs typeface="Times New Roman" panose="02020603050405020304"/>
              </a:defRPr>
            </a:defPPr>
          </a:lstStyle>
          <a:p>
            <a:pPr algn="ctr">
              <a:defRPr sz="900" b="1" i="0">
                <a:solidFill>
                  <a:srgbClr val="263746"/>
                </a:solidFill>
                <a:latin typeface="Times New Roman" panose="02020603050405020304"/>
                <a:ea typeface="Times New Roman" panose="02020603050405020304"/>
                <a:cs typeface="Times New Roman" panose="02020603050405020304"/>
              </a:defRPr>
            </a:pPr>
            <a:r>
              <a:rPr sz="900" b="1" i="0">
                <a:solidFill>
                  <a:srgbClr val="263746"/>
                </a:solidFill>
                <a:latin typeface="Times New Roman" panose="02020603050405020304"/>
                <a:ea typeface="Times New Roman" panose="02020603050405020304"/>
                <a:cs typeface="Times New Roman" panose="02020603050405020304"/>
              </a:rPr>
              <a:t>(b) Historical evidence</a:t>
            </a:r>
            <a:endParaRPr sz="900" b="1" i="0">
              <a:solidFill>
                <a:srgbClr val="263746"/>
              </a:solidFill>
              <a:latin typeface="Times New Roman" panose="02020603050405020304"/>
              <a:ea typeface="Times New Roman" panose="02020603050405020304"/>
              <a:cs typeface="Times New Roman" panose="02020603050405020304"/>
            </a:endParaRPr>
          </a:p>
        </p:txBody>
      </p:sp>
      <p:sp>
        <p:nvSpPr>
          <p:cNvPr id="220" name="C_panel_caption"/>
          <p:cNvSpPr>
            <a:spLocks noGrp="1"/>
          </p:cNvSpPr>
          <p:nvPr/>
        </p:nvSpPr>
        <p:spPr>
          <a:xfrm>
            <a:off x="3240000" y="5440563"/>
            <a:ext cx="3240000" cy="134874"/>
          </a:xfrm>
          <a:prstGeom prst="rect">
            <a:avLst/>
          </a:prstGeom>
          <a:noFill/>
          <a:ln w="0">
            <a:noFill/>
            <a:prstDash val="solid"/>
          </a:ln>
        </p:spPr>
        <p:txBody>
          <a:bodyPr wrap="none" lIns="0" tIns="0" rIns="0" bIns="0" anchor="ctr">
            <a:noAutofit/>
          </a:bodyPr>
          <a:lstStyle>
            <a:defPPr algn="ctr">
              <a:defRPr sz="900" b="1" i="0">
                <a:solidFill>
                  <a:srgbClr val="263746"/>
                </a:solidFill>
                <a:latin typeface="Times New Roman" panose="02020603050405020304"/>
                <a:ea typeface="Times New Roman" panose="02020603050405020304"/>
                <a:cs typeface="Times New Roman" panose="02020603050405020304"/>
              </a:defRPr>
            </a:defPPr>
          </a:lstStyle>
          <a:p>
            <a:pPr algn="ctr">
              <a:defRPr sz="900" b="1" i="0">
                <a:solidFill>
                  <a:srgbClr val="263746"/>
                </a:solidFill>
                <a:latin typeface="Times New Roman" panose="02020603050405020304"/>
                <a:ea typeface="Times New Roman" panose="02020603050405020304"/>
                <a:cs typeface="Times New Roman" panose="02020603050405020304"/>
              </a:defRPr>
            </a:pPr>
            <a:r>
              <a:rPr sz="900" b="1" i="0">
                <a:solidFill>
                  <a:srgbClr val="263746"/>
                </a:solidFill>
                <a:latin typeface="Times New Roman" panose="02020603050405020304"/>
                <a:ea typeface="Times New Roman" panose="02020603050405020304"/>
                <a:cs typeface="Times New Roman" panose="02020603050405020304"/>
              </a:rPr>
              <a:t>(c) Similar histories, different continuations</a:t>
            </a:r>
            <a:endParaRPr sz="900" b="1" i="0">
              <a:solidFill>
                <a:srgbClr val="26374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Times New Roman"/>
        <a:cs typeface="Times New Roman"/>
      </a:majorFont>
      <a:minorFont>
        <a:latin typeface="Times New Roman"/>
        <a:ea typeface="Times New Roman"/>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Times New Roman"/>
        <a:cs typeface="Times New Roman"/>
      </a:majorFont>
      <a:minorFont>
        <a:latin typeface="Times New Roman"/>
        <a:ea typeface="Times New Roman"/>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950</Words>
  <Application>WPS 演示</Application>
  <PresentationFormat>Converted Presentation</PresentationFormat>
  <Paragraphs>198</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宋体</vt:lpstr>
      <vt:lpstr>Wingdings</vt:lpstr>
      <vt:lpstr>Times New Roman</vt:lpstr>
      <vt:lpstr>STIXGeneral</vt:lpstr>
      <vt:lpstr>FFont-Family</vt:lpstr>
      <vt:lpstr>微软雅黑</vt:lpstr>
      <vt:lpstr>Arial Unicode MS</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Kk.</cp:lastModifiedBy>
  <cp:revision>1</cp:revision>
  <dcterms:created xsi:type="dcterms:W3CDTF">2026-10-09T02:33:45Z</dcterms:created>
  <dcterms:modified xsi:type="dcterms:W3CDTF">2026-10-09T02:33:45Z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9CFF1A56C6DC4BF4AAB3B76A8A1AFABC_12</vt:lpwstr>
  </property>
  <property fmtid="{D5CDD505-2E9C-101B-9397-08002B2CF9AE}" pid="3" name="KSOProductBuildVer">
    <vt:lpwstr>2052-12.1.0.28505</vt:lpwstr>
  </property>
</Properties>
</file>